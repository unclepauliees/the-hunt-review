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image" Target="../media/image-9-4.jpeg"/><Relationship Id="rId5" Type="http://schemas.openxmlformats.org/officeDocument/2006/relationships/image" Target="../media/image-9-5.jpe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image" Target="../media/image-12-4.jpeg"/><Relationship Id="rId5" Type="http://schemas.openxmlformats.org/officeDocument/2006/relationships/image" Target="../media/image-12-5.jpe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udible Dracula key art featuring Jonathan Bailey and Ella Purnell">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4069080" cy="5143500"/>
          </a:xfrm>
          <a:prstGeom prst="rect">
            <a:avLst/>
          </a:prstGeom>
          <a:solidFill>
            <a:srgbClr val="171B1B">
              <a:alpha val="90000"/>
            </a:srgbClr>
          </a:solidFill>
          <a:ln w="12700">
            <a:solidFill>
              <a:srgbClr val="333333">
                <a:alpha val="0"/>
              </a:srgbClr>
            </a:solidFill>
            <a:prstDash val="solid"/>
          </a:ln>
        </p:spPr>
      </p:sp>
      <p:sp>
        <p:nvSpPr>
          <p:cNvPr id="4" name="Shape 1"/>
          <p:cNvSpPr/>
          <p:nvPr/>
        </p:nvSpPr>
        <p:spPr>
          <a:xfrm>
            <a:off x="0" y="0"/>
            <a:ext cx="3383280" cy="5143500"/>
          </a:xfrm>
          <a:prstGeom prst="rect">
            <a:avLst/>
          </a:prstGeom>
          <a:solidFill>
            <a:srgbClr val="171B1B">
              <a:alpha val="76000"/>
            </a:srgbClr>
          </a:solidFill>
          <a:ln w="12700">
            <a:solidFill>
              <a:srgbClr val="333333">
                <a:alpha val="0"/>
              </a:srgbClr>
            </a:solidFill>
            <a:prstDash val="solid"/>
          </a:ln>
        </p:spPr>
      </p:sp>
      <p:sp>
        <p:nvSpPr>
          <p:cNvPr id="5" name="Text 2"/>
          <p:cNvSpPr/>
          <p:nvPr/>
        </p:nvSpPr>
        <p:spPr>
          <a:xfrm>
            <a:off x="502920" y="502920"/>
            <a:ext cx="292608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PRESENTED BY NOWTHIS X AUDIBLE</a:t>
            </a:r>
            <a:endParaRPr lang="en-US" sz="850" dirty="0"/>
          </a:p>
        </p:txBody>
      </p:sp>
      <p:sp>
        <p:nvSpPr>
          <p:cNvPr id="6" name="Text 3"/>
          <p:cNvSpPr/>
          <p:nvPr/>
        </p:nvSpPr>
        <p:spPr>
          <a:xfrm>
            <a:off x="594360" y="3794760"/>
            <a:ext cx="3063240" cy="228600"/>
          </a:xfrm>
          <a:prstGeom prst="rect">
            <a:avLst/>
          </a:prstGeom>
          <a:noFill/>
          <a:ln/>
        </p:spPr>
        <p:txBody>
          <a:bodyPr wrap="square" lIns="0" tIns="0" rIns="0" bIns="0" rtlCol="0" anchor="ctr">
            <a:normAutofit/>
          </a:bodyPr>
          <a:lstStyle/>
          <a:p>
            <a:pPr algn="ctr" indent="0" marL="0">
              <a:buNone/>
            </a:pPr>
            <a:r>
              <a:rPr lang="en-US" sz="900" spc="200" kern="0" dirty="0">
                <a:solidFill>
                  <a:srgbClr val="E4BD96"/>
                </a:solidFill>
                <a:latin typeface="Spectral" pitchFamily="34" charset="0"/>
                <a:ea typeface="Spectral" pitchFamily="34" charset="-122"/>
                <a:cs typeface="Spectral" pitchFamily="34" charset="-120"/>
              </a:rPr>
              <a:t>CAMPAIGN KICKOFF EXPERIENCE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68000"/>
            </a:srgbClr>
          </a:solidFill>
          <a:ln w="12700">
            <a:solidFill>
              <a:srgbClr val="333333">
                <a:alpha val="0"/>
              </a:srgbClr>
            </a:solidFill>
            <a:prstDash val="solid"/>
          </a:ln>
        </p:spPr>
      </p:sp>
      <p:sp>
        <p:nvSpPr>
          <p:cNvPr id="4" name="Text 1"/>
          <p:cNvSpPr/>
          <p:nvPr/>
        </p:nvSpPr>
        <p:spPr>
          <a:xfrm>
            <a:off x="1444752" y="685800"/>
            <a:ext cx="34747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STRUCTURE</a:t>
            </a:r>
            <a:endParaRPr lang="en-US" sz="850" dirty="0"/>
          </a:p>
        </p:txBody>
      </p:sp>
      <p:sp>
        <p:nvSpPr>
          <p:cNvPr id="5" name="Text 2"/>
          <p:cNvSpPr/>
          <p:nvPr/>
        </p:nvSpPr>
        <p:spPr>
          <a:xfrm>
            <a:off x="1444752" y="941832"/>
            <a:ext cx="4023360" cy="960120"/>
          </a:xfrm>
          <a:prstGeom prst="rect">
            <a:avLst/>
          </a:prstGeom>
          <a:noFill/>
          <a:ln/>
        </p:spPr>
        <p:txBody>
          <a:bodyPr wrap="square" lIns="0" tIns="0" rIns="0" bIns="0" rtlCol="0" anchor="ctr">
            <a:normAutofit/>
          </a:bodyPr>
          <a:lstStyle/>
          <a:p>
            <a:pPr algn="l" indent="0" marL="0">
              <a:buNone/>
            </a:pPr>
            <a:r>
              <a:rPr lang="en-US" sz="3300" dirty="0">
                <a:solidFill>
                  <a:srgbClr val="E4BD96"/>
                </a:solidFill>
                <a:latin typeface="Spectral" pitchFamily="34" charset="0"/>
                <a:ea typeface="Spectral" pitchFamily="34" charset="-122"/>
                <a:cs typeface="Spectral" pitchFamily="34" charset="-120"/>
              </a:rPr>
              <a:t>How The</a:t>
            </a:r>
            <a:endParaRPr lang="en-US" sz="3300" dirty="0"/>
          </a:p>
          <a:p>
            <a:pPr algn="l" indent="0" marL="0">
              <a:buNone/>
            </a:pPr>
            <a:r>
              <a:rPr lang="en-US" sz="3300" dirty="0">
                <a:solidFill>
                  <a:srgbClr val="E4BD96"/>
                </a:solidFill>
                <a:latin typeface="Spectral" pitchFamily="34" charset="0"/>
                <a:ea typeface="Spectral" pitchFamily="34" charset="-122"/>
                <a:cs typeface="Spectral" pitchFamily="34" charset="-120"/>
              </a:rPr>
              <a:t>Night Unfolds</a:t>
            </a:r>
            <a:endParaRPr lang="en-US" sz="3300" dirty="0"/>
          </a:p>
        </p:txBody>
      </p:sp>
      <p:sp>
        <p:nvSpPr>
          <p:cNvPr id="6" name="Text 3"/>
          <p:cNvSpPr/>
          <p:nvPr/>
        </p:nvSpPr>
        <p:spPr>
          <a:xfrm>
            <a:off x="1444752" y="2359152"/>
            <a:ext cx="34747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PART I — THE HUNT</a:t>
            </a:r>
            <a:endParaRPr lang="en-US" sz="850" dirty="0"/>
          </a:p>
        </p:txBody>
      </p:sp>
      <p:sp>
        <p:nvSpPr>
          <p:cNvPr id="7" name="Text 4"/>
          <p:cNvSpPr/>
          <p:nvPr/>
        </p:nvSpPr>
        <p:spPr>
          <a:xfrm>
            <a:off x="1444752" y="2724912"/>
            <a:ext cx="3520440" cy="1691640"/>
          </a:xfrm>
          <a:prstGeom prst="rect">
            <a:avLst/>
          </a:prstGeom>
          <a:noFill/>
          <a:ln/>
        </p:spPr>
        <p:txBody>
          <a:bodyPr wrap="square" lIns="0" tIns="0" rIns="0" bIns="0" rtlCol="0" anchor="t">
            <a:normAutofit/>
          </a:bodyPr>
          <a:lstStyle/>
          <a:p>
            <a:pPr algn="l" indent="0" marL="0">
              <a:spcAft>
                <a:spcPts val="900"/>
              </a:spcAft>
              <a:buNone/>
            </a:pPr>
            <a:r>
              <a:rPr lang="en-US" sz="1250" dirty="0">
                <a:solidFill>
                  <a:srgbClr val="E4BD96">
                    <a:alpha val="90000"/>
                  </a:srgbClr>
                </a:solidFill>
                <a:latin typeface="Spectral" pitchFamily="34" charset="0"/>
                <a:ea typeface="Spectral" pitchFamily="34" charset="-122"/>
                <a:cs typeface="Spectral" pitchFamily="34" charset="-120"/>
              </a:rPr>
              <a:t>Guests enter The Hunt and explore Dracula through hidden journal entries, immersive audio, and interactive discoveries throughout the venue.</a:t>
            </a:r>
            <a:endParaRPr lang="en-US" sz="1250" dirty="0"/>
          </a:p>
        </p:txBody>
      </p:sp>
      <p:sp>
        <p:nvSpPr>
          <p:cNvPr id="8" name="Text 5"/>
          <p:cNvSpPr/>
          <p:nvPr/>
        </p:nvSpPr>
        <p:spPr>
          <a:xfrm>
            <a:off x="4846320" y="2359152"/>
            <a:ext cx="34747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PART II — THE REVEAL</a:t>
            </a:r>
            <a:endParaRPr lang="en-US" sz="850" dirty="0"/>
          </a:p>
        </p:txBody>
      </p:sp>
      <p:sp>
        <p:nvSpPr>
          <p:cNvPr id="9" name="Text 6"/>
          <p:cNvSpPr/>
          <p:nvPr/>
        </p:nvSpPr>
        <p:spPr>
          <a:xfrm>
            <a:off x="4846320" y="2724912"/>
            <a:ext cx="3520440" cy="1691640"/>
          </a:xfrm>
          <a:prstGeom prst="rect">
            <a:avLst/>
          </a:prstGeom>
          <a:noFill/>
          <a:ln/>
        </p:spPr>
        <p:txBody>
          <a:bodyPr wrap="square" lIns="0" tIns="0" rIns="0" bIns="0" rtlCol="0" anchor="t">
            <a:normAutofit/>
          </a:bodyPr>
          <a:lstStyle/>
          <a:p>
            <a:pPr algn="l" indent="0" marL="0">
              <a:spcAft>
                <a:spcPts val="900"/>
              </a:spcAft>
              <a:buNone/>
            </a:pPr>
            <a:r>
              <a:rPr lang="en-US" sz="1250" dirty="0">
                <a:solidFill>
                  <a:srgbClr val="E4BD96">
                    <a:alpha val="90000"/>
                  </a:srgbClr>
                </a:solidFill>
                <a:latin typeface="Spectral" pitchFamily="34" charset="0"/>
                <a:ea typeface="Spectral" pitchFamily="34" charset="-122"/>
                <a:cs typeface="Spectral" pitchFamily="34" charset="-120"/>
              </a:rPr>
              <a:t>One final discovery completes The Hunt and leads guests to Audible, where they can continue listening to uncover how Dracula ends.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50000"/>
            </a:srgbClr>
          </a:solidFill>
          <a:ln w="12700">
            <a:solidFill>
              <a:srgbClr val="333333">
                <a:alpha val="0"/>
              </a:srgbClr>
            </a:solidFill>
            <a:prstDash val="solid"/>
          </a:ln>
        </p:spPr>
      </p:sp>
      <p:pic>
        <p:nvPicPr>
          <p:cNvPr id="4" name="Image 1" descr="One Night Only">    </p:cNvPr>
          <p:cNvPicPr>
            <a:picLocks noChangeAspect="1"/>
          </p:cNvPicPr>
          <p:nvPr/>
        </p:nvPicPr>
        <p:blipFill>
          <a:blip r:embed="rId2"/>
          <a:srcRect l="0" r="0" t="0" b="0"/>
          <a:stretch/>
        </p:blipFill>
        <p:spPr>
          <a:xfrm>
            <a:off x="685800" y="566928"/>
            <a:ext cx="3886200" cy="4005072"/>
          </a:xfrm>
          <a:prstGeom prst="rect">
            <a:avLst/>
          </a:prstGeom>
        </p:spPr>
      </p:pic>
      <p:sp>
        <p:nvSpPr>
          <p:cNvPr id="5" name="Shape 1"/>
          <p:cNvSpPr/>
          <p:nvPr/>
        </p:nvSpPr>
        <p:spPr>
          <a:xfrm>
            <a:off x="685800" y="566928"/>
            <a:ext cx="3886200" cy="4005072"/>
          </a:xfrm>
          <a:prstGeom prst="roundRect">
            <a:avLst>
              <a:gd name="adj" fmla="val 1412"/>
            </a:avLst>
          </a:prstGeom>
          <a:solidFill>
            <a:srgbClr val="171B1B">
              <a:alpha val="0"/>
            </a:srgbClr>
          </a:solidFill>
          <a:ln w="6350">
            <a:solidFill>
              <a:srgbClr val="E4BD96">
                <a:alpha val="18000"/>
              </a:srgbClr>
            </a:solidFill>
            <a:prstDash val="solid"/>
          </a:ln>
        </p:spPr>
      </p:sp>
      <p:sp>
        <p:nvSpPr>
          <p:cNvPr id="6" name="Text 2"/>
          <p:cNvSpPr/>
          <p:nvPr/>
        </p:nvSpPr>
        <p:spPr>
          <a:xfrm>
            <a:off x="4892040" y="1078992"/>
            <a:ext cx="34747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ONE NIGHT ONLY</a:t>
            </a:r>
            <a:endParaRPr lang="en-US" sz="850" dirty="0"/>
          </a:p>
        </p:txBody>
      </p:sp>
      <p:sp>
        <p:nvSpPr>
          <p:cNvPr id="7" name="Text 3"/>
          <p:cNvSpPr/>
          <p:nvPr/>
        </p:nvSpPr>
        <p:spPr>
          <a:xfrm>
            <a:off x="4892040" y="1353312"/>
            <a:ext cx="3566160" cy="731520"/>
          </a:xfrm>
          <a:prstGeom prst="rect">
            <a:avLst/>
          </a:prstGeom>
          <a:noFill/>
          <a:ln/>
        </p:spPr>
        <p:txBody>
          <a:bodyPr wrap="square" lIns="0" tIns="0" rIns="0" bIns="0" rtlCol="0" anchor="ctr">
            <a:normAutofit/>
          </a:bodyPr>
          <a:lstStyle/>
          <a:p>
            <a:pPr algn="l" indent="0" marL="0">
              <a:buNone/>
            </a:pPr>
            <a:r>
              <a:rPr lang="en-US" sz="3100" dirty="0">
                <a:solidFill>
                  <a:srgbClr val="E4BD96"/>
                </a:solidFill>
                <a:latin typeface="Spectral" pitchFamily="34" charset="0"/>
                <a:ea typeface="Spectral" pitchFamily="34" charset="-122"/>
                <a:cs typeface="Spectral" pitchFamily="34" charset="-120"/>
              </a:rPr>
              <a:t>One Night Only</a:t>
            </a:r>
            <a:endParaRPr lang="en-US" sz="3100" dirty="0"/>
          </a:p>
        </p:txBody>
      </p:sp>
      <p:sp>
        <p:nvSpPr>
          <p:cNvPr id="8" name="Text 4"/>
          <p:cNvSpPr/>
          <p:nvPr/>
        </p:nvSpPr>
        <p:spPr>
          <a:xfrm>
            <a:off x="4892040" y="2240280"/>
            <a:ext cx="3429000" cy="2148840"/>
          </a:xfrm>
          <a:prstGeom prst="rect">
            <a:avLst/>
          </a:prstGeom>
          <a:noFill/>
          <a:ln/>
        </p:spPr>
        <p:txBody>
          <a:bodyPr wrap="square" lIns="0" tIns="0" rIns="0" bIns="0" rtlCol="0" anchor="t">
            <a:normAutofit/>
          </a:bodyPr>
          <a:lstStyle/>
          <a:p>
            <a:pPr algn="l" indent="0" marL="0">
              <a:spcAft>
                <a:spcPts val="900"/>
              </a:spcAft>
              <a:buNone/>
            </a:pPr>
            <a:r>
              <a:rPr lang="en-US" sz="1250" dirty="0">
                <a:solidFill>
                  <a:srgbClr val="E4BD96">
                    <a:alpha val="90000"/>
                  </a:srgbClr>
                </a:solidFill>
                <a:latin typeface="Spectral" pitchFamily="34" charset="0"/>
                <a:ea typeface="Spectral" pitchFamily="34" charset="-122"/>
                <a:cs typeface="Spectral" pitchFamily="34" charset="-120"/>
              </a:rPr>
              <a:t>For one night only, Audible transforms a chic New York venue into The Hunt. Drawn from the haunting pages of Dracula, the evening blends decadent dining, gothic luxury, and interactive storytelling into New York's most coveted invitation.</a:t>
            </a:r>
            <a:endParaRPr lang="en-US" sz="1250" dirty="0"/>
          </a:p>
          <a:p>
            <a:pPr algn="l" indent="0" marL="0">
              <a:spcAft>
                <a:spcPts val="900"/>
              </a:spcAft>
              <a:buNone/>
            </a:pPr>
            <a:endParaRPr lang="en-US" sz="1250" dirty="0"/>
          </a:p>
          <a:p>
            <a:pPr algn="l" indent="0" marL="0">
              <a:spcAft>
                <a:spcPts val="900"/>
              </a:spcAft>
              <a:buNone/>
            </a:pPr>
            <a:r>
              <a:rPr lang="en-US" sz="1250" dirty="0">
                <a:solidFill>
                  <a:srgbClr val="E4BD96">
                    <a:alpha val="90000"/>
                  </a:srgbClr>
                </a:solidFill>
                <a:latin typeface="Spectral" pitchFamily="34" charset="0"/>
                <a:ea typeface="Spectral" pitchFamily="34" charset="-122"/>
                <a:cs typeface="Spectral" pitchFamily="34" charset="-120"/>
              </a:rPr>
              <a:t>A stylish New York venue is transformed into Dracula's dining room through candlelight, dramatic tablescapes, and lavish details inspired by gothic luxury. Fog creeping over the floors, dramatic lighting, and luxurious gothic touches leave no doubt where this evening is taking place.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You May Enter">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38000"/>
            </a:srgbClr>
          </a:solidFill>
          <a:ln w="12700">
            <a:solidFill>
              <a:srgbClr val="333333">
                <a:alpha val="0"/>
              </a:srgbClr>
            </a:solidFill>
            <a:prstDash val="solid"/>
          </a:ln>
        </p:spPr>
      </p:sp>
      <p:sp>
        <p:nvSpPr>
          <p:cNvPr id="4" name="Text 1"/>
          <p:cNvSpPr/>
          <p:nvPr/>
        </p:nvSpPr>
        <p:spPr>
          <a:xfrm>
            <a:off x="2926080" y="2084832"/>
            <a:ext cx="3291840" cy="201168"/>
          </a:xfrm>
          <a:prstGeom prst="rect">
            <a:avLst/>
          </a:prstGeom>
          <a:noFill/>
          <a:ln/>
        </p:spPr>
        <p:txBody>
          <a:bodyPr wrap="square" lIns="0" tIns="0" rIns="0" bIns="0" rtlCol="0" anchor="ctr">
            <a:normAutofit/>
          </a:bodyPr>
          <a:lstStyle/>
          <a:p>
            <a:pPr algn="ctr" indent="0" marL="0">
              <a:buNone/>
            </a:pPr>
            <a:r>
              <a:rPr lang="en-US" sz="850" spc="230" kern="0" dirty="0">
                <a:solidFill>
                  <a:srgbClr val="B6875B"/>
                </a:solidFill>
                <a:latin typeface="Spectral" pitchFamily="34" charset="0"/>
                <a:ea typeface="Spectral" pitchFamily="34" charset="-122"/>
                <a:cs typeface="Spectral" pitchFamily="34" charset="-120"/>
              </a:rPr>
              <a:t>ARRIVAL</a:t>
            </a:r>
            <a:endParaRPr lang="en-US" sz="850" dirty="0"/>
          </a:p>
        </p:txBody>
      </p:sp>
      <p:sp>
        <p:nvSpPr>
          <p:cNvPr id="5" name="Text 2"/>
          <p:cNvSpPr/>
          <p:nvPr/>
        </p:nvSpPr>
        <p:spPr>
          <a:xfrm>
            <a:off x="1828800" y="2340864"/>
            <a:ext cx="5486400" cy="685800"/>
          </a:xfrm>
          <a:prstGeom prst="rect">
            <a:avLst/>
          </a:prstGeom>
          <a:noFill/>
          <a:ln/>
        </p:spPr>
        <p:txBody>
          <a:bodyPr wrap="square" lIns="0" tIns="0" rIns="0" bIns="0" rtlCol="0" anchor="ctr">
            <a:normAutofit/>
          </a:bodyPr>
          <a:lstStyle/>
          <a:p>
            <a:pPr algn="ctr" indent="0" marL="0">
              <a:buNone/>
            </a:pPr>
            <a:r>
              <a:rPr lang="en-US" sz="3800" dirty="0">
                <a:solidFill>
                  <a:srgbClr val="E4BD96"/>
                </a:solidFill>
                <a:latin typeface="Spectral" pitchFamily="34" charset="0"/>
                <a:ea typeface="Spectral" pitchFamily="34" charset="-122"/>
                <a:cs typeface="Spectral" pitchFamily="34" charset="-120"/>
              </a:rPr>
              <a:t>You May Enter</a:t>
            </a:r>
            <a:endParaRPr lang="en-US" sz="3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54000"/>
            </a:srgbClr>
          </a:solidFill>
          <a:ln w="12700">
            <a:solidFill>
              <a:srgbClr val="333333">
                <a:alpha val="0"/>
              </a:srgbClr>
            </a:solidFill>
            <a:prstDash val="solid"/>
          </a:ln>
        </p:spPr>
      </p:sp>
      <p:sp>
        <p:nvSpPr>
          <p:cNvPr id="4" name="Text 1"/>
          <p:cNvSpPr/>
          <p:nvPr/>
        </p:nvSpPr>
        <p:spPr>
          <a:xfrm>
            <a:off x="457200" y="301752"/>
            <a:ext cx="310896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ENTRANCE DESIGN</a:t>
            </a:r>
            <a:endParaRPr lang="en-US" sz="850" dirty="0"/>
          </a:p>
        </p:txBody>
      </p:sp>
      <p:sp>
        <p:nvSpPr>
          <p:cNvPr id="5" name="Text 2"/>
          <p:cNvSpPr/>
          <p:nvPr/>
        </p:nvSpPr>
        <p:spPr>
          <a:xfrm>
            <a:off x="457200" y="512064"/>
            <a:ext cx="4572000" cy="457200"/>
          </a:xfrm>
          <a:prstGeom prst="rect">
            <a:avLst/>
          </a:prstGeom>
          <a:noFill/>
          <a:ln/>
        </p:spPr>
        <p:txBody>
          <a:bodyPr wrap="square" lIns="0" tIns="0" rIns="0" bIns="0" rtlCol="0" anchor="ctr">
            <a:normAutofit/>
          </a:bodyPr>
          <a:lstStyle/>
          <a:p>
            <a:pPr algn="l" indent="0" marL="0">
              <a:buNone/>
            </a:pPr>
            <a:r>
              <a:rPr lang="en-US" sz="2600" dirty="0">
                <a:solidFill>
                  <a:srgbClr val="E4BD96"/>
                </a:solidFill>
                <a:latin typeface="Spectral" pitchFamily="34" charset="0"/>
                <a:ea typeface="Spectral" pitchFamily="34" charset="-122"/>
                <a:cs typeface="Spectral" pitchFamily="34" charset="-120"/>
              </a:rPr>
              <a:t>Building The Threshold</a:t>
            </a:r>
            <a:endParaRPr lang="en-US" sz="2600" dirty="0"/>
          </a:p>
        </p:txBody>
      </p:sp>
      <p:pic>
        <p:nvPicPr>
          <p:cNvPr id="6" name="Image 1" descr="Arrival Environment">    </p:cNvPr>
          <p:cNvPicPr>
            <a:picLocks noChangeAspect="1"/>
          </p:cNvPicPr>
          <p:nvPr/>
        </p:nvPicPr>
        <p:blipFill>
          <a:blip r:embed="rId2"/>
          <a:srcRect l="0" r="0" t="0" b="0"/>
          <a:stretch/>
        </p:blipFill>
        <p:spPr>
          <a:xfrm>
            <a:off x="457200" y="1078992"/>
            <a:ext cx="2670048" cy="3520440"/>
          </a:xfrm>
          <a:prstGeom prst="rect">
            <a:avLst/>
          </a:prstGeom>
        </p:spPr>
      </p:pic>
      <p:sp>
        <p:nvSpPr>
          <p:cNvPr id="7" name="Shape 3"/>
          <p:cNvSpPr/>
          <p:nvPr/>
        </p:nvSpPr>
        <p:spPr>
          <a:xfrm>
            <a:off x="457200" y="1078992"/>
            <a:ext cx="2670048" cy="3520440"/>
          </a:xfrm>
          <a:prstGeom prst="rect">
            <a:avLst/>
          </a:prstGeom>
          <a:solidFill>
            <a:srgbClr val="171B1B">
              <a:alpha val="80000"/>
            </a:srgbClr>
          </a:solidFill>
          <a:ln w="12700">
            <a:solidFill>
              <a:srgbClr val="333333">
                <a:alpha val="0"/>
              </a:srgbClr>
            </a:solidFill>
            <a:prstDash val="solid"/>
          </a:ln>
        </p:spPr>
      </p:sp>
      <p:sp>
        <p:nvSpPr>
          <p:cNvPr id="8" name="Shape 4"/>
          <p:cNvSpPr/>
          <p:nvPr/>
        </p:nvSpPr>
        <p:spPr>
          <a:xfrm>
            <a:off x="457200" y="2980944"/>
            <a:ext cx="2670048" cy="1618488"/>
          </a:xfrm>
          <a:prstGeom prst="rect">
            <a:avLst/>
          </a:prstGeom>
          <a:solidFill>
            <a:srgbClr val="171B1B">
              <a:alpha val="93000"/>
            </a:srgbClr>
          </a:solidFill>
          <a:ln w="12700">
            <a:solidFill>
              <a:srgbClr val="333333">
                <a:alpha val="0"/>
              </a:srgbClr>
            </a:solidFill>
            <a:prstDash val="solid"/>
          </a:ln>
        </p:spPr>
      </p:sp>
      <p:sp>
        <p:nvSpPr>
          <p:cNvPr id="9" name="Text 5"/>
          <p:cNvSpPr/>
          <p:nvPr/>
        </p:nvSpPr>
        <p:spPr>
          <a:xfrm>
            <a:off x="621792" y="3154680"/>
            <a:ext cx="2340864"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EXPERIENCE</a:t>
            </a:r>
            <a:endParaRPr lang="en-US" sz="850" dirty="0"/>
          </a:p>
        </p:txBody>
      </p:sp>
      <p:sp>
        <p:nvSpPr>
          <p:cNvPr id="10" name="Text 6"/>
          <p:cNvSpPr/>
          <p:nvPr/>
        </p:nvSpPr>
        <p:spPr>
          <a:xfrm>
            <a:off x="621792" y="3438144"/>
            <a:ext cx="2340864" cy="512064"/>
          </a:xfrm>
          <a:prstGeom prst="rect">
            <a:avLst/>
          </a:prstGeom>
          <a:noFill/>
          <a:ln/>
        </p:spPr>
        <p:txBody>
          <a:bodyPr wrap="square" lIns="0" tIns="0" rIns="0" bIns="0" rtlCol="0" anchor="b">
            <a:normAutofit/>
          </a:bodyPr>
          <a:lstStyle/>
          <a:p>
            <a:pPr indent="0" marL="0">
              <a:buNone/>
            </a:pPr>
            <a:r>
              <a:rPr lang="en-US" sz="1800" b="1" dirty="0">
                <a:solidFill>
                  <a:srgbClr val="FFFFFF"/>
                </a:solidFill>
                <a:latin typeface="Spectral" pitchFamily="34" charset="0"/>
                <a:ea typeface="Spectral" pitchFamily="34" charset="-122"/>
                <a:cs typeface="Spectral" pitchFamily="34" charset="-120"/>
              </a:rPr>
              <a:t>Arrival Environment</a:t>
            </a:r>
            <a:endParaRPr lang="en-US" sz="1800" dirty="0"/>
          </a:p>
        </p:txBody>
      </p:sp>
      <p:sp>
        <p:nvSpPr>
          <p:cNvPr id="11" name="Text 7"/>
          <p:cNvSpPr/>
          <p:nvPr/>
        </p:nvSpPr>
        <p:spPr>
          <a:xfrm>
            <a:off x="621792" y="4005072"/>
            <a:ext cx="2340864" cy="557784"/>
          </a:xfrm>
          <a:prstGeom prst="rect">
            <a:avLst/>
          </a:prstGeom>
          <a:noFill/>
          <a:ln/>
        </p:spPr>
        <p:txBody>
          <a:bodyPr wrap="square" lIns="0" tIns="0" rIns="0" bIns="0" rtlCol="0" anchor="t">
            <a:normAutofit/>
          </a:bodyPr>
          <a:lstStyle/>
          <a:p>
            <a:pPr indent="0" marL="0">
              <a:buNone/>
            </a:pPr>
            <a:r>
              <a:rPr lang="en-US" sz="950" dirty="0">
                <a:solidFill>
                  <a:srgbClr val="FFFFFF">
                    <a:alpha val="96000"/>
                  </a:srgbClr>
                </a:solidFill>
                <a:latin typeface="Spectral" pitchFamily="34" charset="0"/>
                <a:ea typeface="Spectral" pitchFamily="34" charset="-122"/>
                <a:cs typeface="Spectral" pitchFamily="34" charset="-120"/>
              </a:rPr>
              <a:t>A candlelit reception environment introduces guests to the world of Dracula through velvet drapery, portrait mirrors, florals, and the first invitation to enter.</a:t>
            </a:r>
            <a:endParaRPr lang="en-US" sz="950" dirty="0"/>
          </a:p>
        </p:txBody>
      </p:sp>
      <p:pic>
        <p:nvPicPr>
          <p:cNvPr id="12" name="Image 2" descr="Floor Plan">    </p:cNvPr>
          <p:cNvPicPr>
            <a:picLocks noChangeAspect="1"/>
          </p:cNvPicPr>
          <p:nvPr/>
        </p:nvPicPr>
        <p:blipFill>
          <a:blip r:embed="rId3"/>
          <a:srcRect l="0" r="0" t="0" b="0"/>
          <a:stretch/>
        </p:blipFill>
        <p:spPr>
          <a:xfrm>
            <a:off x="3236976" y="1078992"/>
            <a:ext cx="2670048" cy="3520440"/>
          </a:xfrm>
          <a:prstGeom prst="rect">
            <a:avLst/>
          </a:prstGeom>
        </p:spPr>
      </p:pic>
      <p:sp>
        <p:nvSpPr>
          <p:cNvPr id="13" name="Shape 8"/>
          <p:cNvSpPr/>
          <p:nvPr/>
        </p:nvSpPr>
        <p:spPr>
          <a:xfrm>
            <a:off x="3236976" y="1078992"/>
            <a:ext cx="2670048" cy="3520440"/>
          </a:xfrm>
          <a:prstGeom prst="rect">
            <a:avLst/>
          </a:prstGeom>
          <a:solidFill>
            <a:srgbClr val="171B1B">
              <a:alpha val="80000"/>
            </a:srgbClr>
          </a:solidFill>
          <a:ln w="12700">
            <a:solidFill>
              <a:srgbClr val="333333">
                <a:alpha val="0"/>
              </a:srgbClr>
            </a:solidFill>
            <a:prstDash val="solid"/>
          </a:ln>
        </p:spPr>
      </p:sp>
      <p:sp>
        <p:nvSpPr>
          <p:cNvPr id="14" name="Shape 9"/>
          <p:cNvSpPr/>
          <p:nvPr/>
        </p:nvSpPr>
        <p:spPr>
          <a:xfrm>
            <a:off x="3236976" y="2980944"/>
            <a:ext cx="2670048" cy="1618488"/>
          </a:xfrm>
          <a:prstGeom prst="rect">
            <a:avLst/>
          </a:prstGeom>
          <a:solidFill>
            <a:srgbClr val="171B1B">
              <a:alpha val="93000"/>
            </a:srgbClr>
          </a:solidFill>
          <a:ln w="12700">
            <a:solidFill>
              <a:srgbClr val="333333">
                <a:alpha val="0"/>
              </a:srgbClr>
            </a:solidFill>
            <a:prstDash val="solid"/>
          </a:ln>
        </p:spPr>
      </p:sp>
      <p:sp>
        <p:nvSpPr>
          <p:cNvPr id="15" name="Text 10"/>
          <p:cNvSpPr/>
          <p:nvPr/>
        </p:nvSpPr>
        <p:spPr>
          <a:xfrm>
            <a:off x="3401568" y="3154680"/>
            <a:ext cx="2340864"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GUEST FLOW</a:t>
            </a:r>
            <a:endParaRPr lang="en-US" sz="850" dirty="0"/>
          </a:p>
        </p:txBody>
      </p:sp>
      <p:sp>
        <p:nvSpPr>
          <p:cNvPr id="16" name="Text 11"/>
          <p:cNvSpPr/>
          <p:nvPr/>
        </p:nvSpPr>
        <p:spPr>
          <a:xfrm>
            <a:off x="3401568" y="3438144"/>
            <a:ext cx="2340864" cy="512064"/>
          </a:xfrm>
          <a:prstGeom prst="rect">
            <a:avLst/>
          </a:prstGeom>
          <a:noFill/>
          <a:ln/>
        </p:spPr>
        <p:txBody>
          <a:bodyPr wrap="square" lIns="0" tIns="0" rIns="0" bIns="0" rtlCol="0" anchor="b">
            <a:normAutofit/>
          </a:bodyPr>
          <a:lstStyle/>
          <a:p>
            <a:pPr indent="0" marL="0">
              <a:buNone/>
            </a:pPr>
            <a:r>
              <a:rPr lang="en-US" sz="1800" b="1" dirty="0">
                <a:solidFill>
                  <a:srgbClr val="FFFFFF"/>
                </a:solidFill>
                <a:latin typeface="Spectral" pitchFamily="34" charset="0"/>
                <a:ea typeface="Spectral" pitchFamily="34" charset="-122"/>
                <a:cs typeface="Spectral" pitchFamily="34" charset="-120"/>
              </a:rPr>
              <a:t>Floor Plan</a:t>
            </a:r>
            <a:endParaRPr lang="en-US" sz="1800" dirty="0"/>
          </a:p>
        </p:txBody>
      </p:sp>
      <p:sp>
        <p:nvSpPr>
          <p:cNvPr id="17" name="Text 12"/>
          <p:cNvSpPr/>
          <p:nvPr/>
        </p:nvSpPr>
        <p:spPr>
          <a:xfrm>
            <a:off x="3401568" y="4005072"/>
            <a:ext cx="2340864" cy="557784"/>
          </a:xfrm>
          <a:prstGeom prst="rect">
            <a:avLst/>
          </a:prstGeom>
          <a:noFill/>
          <a:ln/>
        </p:spPr>
        <p:txBody>
          <a:bodyPr wrap="square" lIns="0" tIns="0" rIns="0" bIns="0" rtlCol="0" anchor="t">
            <a:normAutofit/>
          </a:bodyPr>
          <a:lstStyle/>
          <a:p>
            <a:pPr indent="0" marL="0">
              <a:buNone/>
            </a:pPr>
            <a:r>
              <a:rPr lang="en-US" sz="950" dirty="0">
                <a:solidFill>
                  <a:srgbClr val="FFFFFF">
                    <a:alpha val="96000"/>
                  </a:srgbClr>
                </a:solidFill>
                <a:latin typeface="Spectral" pitchFamily="34" charset="0"/>
                <a:ea typeface="Spectral" pitchFamily="34" charset="-122"/>
                <a:cs typeface="Spectral" pitchFamily="34" charset="-120"/>
              </a:rPr>
              <a:t>The floor plan coordinates arrival, activation queues, the feast, portraits, aura readings, the library, and the customization station across the venue.</a:t>
            </a:r>
            <a:endParaRPr lang="en-US" sz="950" dirty="0"/>
          </a:p>
        </p:txBody>
      </p:sp>
      <p:pic>
        <p:nvPicPr>
          <p:cNvPr id="18" name="Image 3" descr="Entrance Build Plan">    </p:cNvPr>
          <p:cNvPicPr>
            <a:picLocks noChangeAspect="1"/>
          </p:cNvPicPr>
          <p:nvPr/>
        </p:nvPicPr>
        <p:blipFill>
          <a:blip r:embed="rId4"/>
          <a:srcRect l="0" r="0" t="0" b="0"/>
          <a:stretch/>
        </p:blipFill>
        <p:spPr>
          <a:xfrm>
            <a:off x="6016752" y="1078992"/>
            <a:ext cx="2670048" cy="3520440"/>
          </a:xfrm>
          <a:prstGeom prst="rect">
            <a:avLst/>
          </a:prstGeom>
        </p:spPr>
      </p:pic>
      <p:sp>
        <p:nvSpPr>
          <p:cNvPr id="19" name="Shape 13"/>
          <p:cNvSpPr/>
          <p:nvPr/>
        </p:nvSpPr>
        <p:spPr>
          <a:xfrm>
            <a:off x="6016752" y="1078992"/>
            <a:ext cx="2670048" cy="3520440"/>
          </a:xfrm>
          <a:prstGeom prst="rect">
            <a:avLst/>
          </a:prstGeom>
          <a:solidFill>
            <a:srgbClr val="171B1B">
              <a:alpha val="80000"/>
            </a:srgbClr>
          </a:solidFill>
          <a:ln w="12700">
            <a:solidFill>
              <a:srgbClr val="333333">
                <a:alpha val="0"/>
              </a:srgbClr>
            </a:solidFill>
            <a:prstDash val="solid"/>
          </a:ln>
        </p:spPr>
      </p:sp>
      <p:sp>
        <p:nvSpPr>
          <p:cNvPr id="20" name="Shape 14"/>
          <p:cNvSpPr/>
          <p:nvPr/>
        </p:nvSpPr>
        <p:spPr>
          <a:xfrm>
            <a:off x="6016752" y="2980944"/>
            <a:ext cx="2670048" cy="1618488"/>
          </a:xfrm>
          <a:prstGeom prst="rect">
            <a:avLst/>
          </a:prstGeom>
          <a:solidFill>
            <a:srgbClr val="171B1B">
              <a:alpha val="93000"/>
            </a:srgbClr>
          </a:solidFill>
          <a:ln w="12700">
            <a:solidFill>
              <a:srgbClr val="333333">
                <a:alpha val="0"/>
              </a:srgbClr>
            </a:solidFill>
            <a:prstDash val="solid"/>
          </a:ln>
        </p:spPr>
      </p:sp>
      <p:sp>
        <p:nvSpPr>
          <p:cNvPr id="21" name="Text 15"/>
          <p:cNvSpPr/>
          <p:nvPr/>
        </p:nvSpPr>
        <p:spPr>
          <a:xfrm>
            <a:off x="6181344" y="3154680"/>
            <a:ext cx="2340864"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PRODUCTION</a:t>
            </a:r>
            <a:endParaRPr lang="en-US" sz="850" dirty="0"/>
          </a:p>
        </p:txBody>
      </p:sp>
      <p:sp>
        <p:nvSpPr>
          <p:cNvPr id="22" name="Text 16"/>
          <p:cNvSpPr/>
          <p:nvPr/>
        </p:nvSpPr>
        <p:spPr>
          <a:xfrm>
            <a:off x="6181344" y="3438144"/>
            <a:ext cx="2340864" cy="512064"/>
          </a:xfrm>
          <a:prstGeom prst="rect">
            <a:avLst/>
          </a:prstGeom>
          <a:noFill/>
          <a:ln/>
        </p:spPr>
        <p:txBody>
          <a:bodyPr wrap="square" lIns="0" tIns="0" rIns="0" bIns="0" rtlCol="0" anchor="b">
            <a:normAutofit/>
          </a:bodyPr>
          <a:lstStyle/>
          <a:p>
            <a:pPr indent="0" marL="0">
              <a:buNone/>
            </a:pPr>
            <a:r>
              <a:rPr lang="en-US" sz="1800" b="1" dirty="0">
                <a:solidFill>
                  <a:srgbClr val="FFFFFF"/>
                </a:solidFill>
                <a:latin typeface="Spectral" pitchFamily="34" charset="0"/>
                <a:ea typeface="Spectral" pitchFamily="34" charset="-122"/>
                <a:cs typeface="Spectral" pitchFamily="34" charset="-120"/>
              </a:rPr>
              <a:t>Entrance Build Plan</a:t>
            </a:r>
            <a:endParaRPr lang="en-US" sz="1800" dirty="0"/>
          </a:p>
        </p:txBody>
      </p:sp>
      <p:sp>
        <p:nvSpPr>
          <p:cNvPr id="23" name="Text 17"/>
          <p:cNvSpPr/>
          <p:nvPr/>
        </p:nvSpPr>
        <p:spPr>
          <a:xfrm>
            <a:off x="6181344" y="4005072"/>
            <a:ext cx="2340864" cy="557784"/>
          </a:xfrm>
          <a:prstGeom prst="rect">
            <a:avLst/>
          </a:prstGeom>
          <a:noFill/>
          <a:ln/>
        </p:spPr>
        <p:txBody>
          <a:bodyPr wrap="square" lIns="0" tIns="0" rIns="0" bIns="0" rtlCol="0" anchor="t">
            <a:normAutofit/>
          </a:bodyPr>
          <a:lstStyle/>
          <a:p>
            <a:pPr indent="0" marL="0">
              <a:buNone/>
            </a:pPr>
            <a:r>
              <a:rPr lang="en-US" sz="950" dirty="0">
                <a:solidFill>
                  <a:srgbClr val="FFFFFF">
                    <a:alpha val="96000"/>
                  </a:srgbClr>
                </a:solidFill>
                <a:latin typeface="Spectral" pitchFamily="34" charset="0"/>
                <a:ea typeface="Spectral" pitchFamily="34" charset="-122"/>
                <a:cs typeface="Spectral" pitchFamily="34" charset="-120"/>
              </a:rPr>
              <a:t>The entrance elevation, materials, lighting, branded banners, florals, and modular construction details translate the threshold concept into a buildable installation.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50000"/>
            </a:srgbClr>
          </a:solidFill>
          <a:ln w="12700">
            <a:solidFill>
              <a:srgbClr val="333333">
                <a:alpha val="0"/>
              </a:srgbClr>
            </a:solidFill>
            <a:prstDash val="solid"/>
          </a:ln>
        </p:spPr>
      </p:sp>
      <p:pic>
        <p:nvPicPr>
          <p:cNvPr id="4" name="Image 1" descr="Into The Castle">    </p:cNvPr>
          <p:cNvPicPr>
            <a:picLocks noChangeAspect="1"/>
          </p:cNvPicPr>
          <p:nvPr/>
        </p:nvPicPr>
        <p:blipFill>
          <a:blip r:embed="rId2"/>
          <a:srcRect l="0" r="0" t="0" b="0"/>
          <a:stretch/>
        </p:blipFill>
        <p:spPr>
          <a:xfrm>
            <a:off x="685800" y="566928"/>
            <a:ext cx="3886200" cy="4005072"/>
          </a:xfrm>
          <a:prstGeom prst="rect">
            <a:avLst/>
          </a:prstGeom>
        </p:spPr>
      </p:pic>
      <p:sp>
        <p:nvSpPr>
          <p:cNvPr id="5" name="Shape 1"/>
          <p:cNvSpPr/>
          <p:nvPr/>
        </p:nvSpPr>
        <p:spPr>
          <a:xfrm>
            <a:off x="685800" y="566928"/>
            <a:ext cx="3886200" cy="4005072"/>
          </a:xfrm>
          <a:prstGeom prst="roundRect">
            <a:avLst>
              <a:gd name="adj" fmla="val 1412"/>
            </a:avLst>
          </a:prstGeom>
          <a:solidFill>
            <a:srgbClr val="171B1B">
              <a:alpha val="0"/>
            </a:srgbClr>
          </a:solidFill>
          <a:ln w="6350">
            <a:solidFill>
              <a:srgbClr val="E4BD96">
                <a:alpha val="18000"/>
              </a:srgbClr>
            </a:solidFill>
            <a:prstDash val="solid"/>
          </a:ln>
        </p:spPr>
      </p:sp>
      <p:sp>
        <p:nvSpPr>
          <p:cNvPr id="6" name="Text 2"/>
          <p:cNvSpPr/>
          <p:nvPr/>
        </p:nvSpPr>
        <p:spPr>
          <a:xfrm>
            <a:off x="4892040" y="1078992"/>
            <a:ext cx="34747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THRESHOLD</a:t>
            </a:r>
            <a:endParaRPr lang="en-US" sz="850" dirty="0"/>
          </a:p>
        </p:txBody>
      </p:sp>
      <p:sp>
        <p:nvSpPr>
          <p:cNvPr id="7" name="Text 3"/>
          <p:cNvSpPr/>
          <p:nvPr/>
        </p:nvSpPr>
        <p:spPr>
          <a:xfrm>
            <a:off x="4892040" y="1353312"/>
            <a:ext cx="3566160" cy="731520"/>
          </a:xfrm>
          <a:prstGeom prst="rect">
            <a:avLst/>
          </a:prstGeom>
          <a:noFill/>
          <a:ln/>
        </p:spPr>
        <p:txBody>
          <a:bodyPr wrap="square" lIns="0" tIns="0" rIns="0" bIns="0" rtlCol="0" anchor="ctr">
            <a:normAutofit/>
          </a:bodyPr>
          <a:lstStyle/>
          <a:p>
            <a:pPr algn="l" indent="0" marL="0">
              <a:buNone/>
            </a:pPr>
            <a:r>
              <a:rPr lang="en-US" sz="3100" dirty="0">
                <a:solidFill>
                  <a:srgbClr val="E4BD96"/>
                </a:solidFill>
                <a:latin typeface="Spectral" pitchFamily="34" charset="0"/>
                <a:ea typeface="Spectral" pitchFamily="34" charset="-122"/>
                <a:cs typeface="Spectral" pitchFamily="34" charset="-120"/>
              </a:rPr>
              <a:t>Into The Castle</a:t>
            </a:r>
            <a:endParaRPr lang="en-US" sz="3100" dirty="0"/>
          </a:p>
        </p:txBody>
      </p:sp>
      <p:sp>
        <p:nvSpPr>
          <p:cNvPr id="8" name="Text 4"/>
          <p:cNvSpPr/>
          <p:nvPr/>
        </p:nvSpPr>
        <p:spPr>
          <a:xfrm>
            <a:off x="4892040" y="2240280"/>
            <a:ext cx="3429000" cy="2148840"/>
          </a:xfrm>
          <a:prstGeom prst="rect">
            <a:avLst/>
          </a:prstGeom>
          <a:noFill/>
          <a:ln/>
        </p:spPr>
        <p:txBody>
          <a:bodyPr wrap="square" lIns="0" tIns="0" rIns="0" bIns="0" rtlCol="0" anchor="t">
            <a:normAutofit/>
          </a:bodyPr>
          <a:lstStyle/>
          <a:p>
            <a:pPr algn="l" indent="0" marL="0">
              <a:spcAft>
                <a:spcPts val="900"/>
              </a:spcAft>
              <a:buNone/>
            </a:pPr>
            <a:r>
              <a:rPr lang="en-US" sz="1250" dirty="0">
                <a:solidFill>
                  <a:srgbClr val="E4BD96">
                    <a:alpha val="90000"/>
                  </a:srgbClr>
                </a:solidFill>
                <a:latin typeface="Spectral" pitchFamily="34" charset="0"/>
                <a:ea typeface="Spectral" pitchFamily="34" charset="-122"/>
                <a:cs typeface="Spectral" pitchFamily="34" charset="-120"/>
              </a:rPr>
              <a:t>Guests step into the Count's castle through a candlelit corridor, where flickering light and dramatic drapes blur the line between reality and Dracula's world.</a:t>
            </a:r>
            <a:endParaRPr lang="en-US" sz="1250" dirty="0"/>
          </a:p>
          <a:p>
            <a:pPr algn="l" indent="0" marL="0">
              <a:spcAft>
                <a:spcPts val="900"/>
              </a:spcAft>
              <a:buNone/>
            </a:pPr>
            <a:endParaRPr lang="en-US" sz="1250" dirty="0"/>
          </a:p>
          <a:p>
            <a:pPr algn="l" indent="0" marL="0">
              <a:spcAft>
                <a:spcPts val="900"/>
              </a:spcAft>
              <a:buNone/>
            </a:pPr>
            <a:r>
              <a:rPr lang="en-US" sz="1250" dirty="0">
                <a:solidFill>
                  <a:srgbClr val="E4BD96">
                    <a:alpha val="90000"/>
                  </a:srgbClr>
                </a:solidFill>
                <a:latin typeface="Spectral" pitchFamily="34" charset="0"/>
                <a:ea typeface="Spectral" pitchFamily="34" charset="-122"/>
                <a:cs typeface="Spectral" pitchFamily="34" charset="-120"/>
              </a:rPr>
              <a:t>Audio clips from Audible's Dracula play, letting guests know they are entering his realm. They receive a wax-sealed envelope, seemingly created in another time and place.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Open If You Dare">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80000"/>
            </a:srgbClr>
          </a:solidFill>
          <a:ln w="12700">
            <a:solidFill>
              <a:srgbClr val="333333">
                <a:alpha val="0"/>
              </a:srgbClr>
            </a:solidFill>
            <a:prstDash val="solid"/>
          </a:ln>
        </p:spPr>
      </p:sp>
      <p:sp>
        <p:nvSpPr>
          <p:cNvPr id="4" name="Shape 1"/>
          <p:cNvSpPr/>
          <p:nvPr/>
        </p:nvSpPr>
        <p:spPr>
          <a:xfrm>
            <a:off x="0" y="2971800"/>
            <a:ext cx="9144000" cy="2171700"/>
          </a:xfrm>
          <a:prstGeom prst="rect">
            <a:avLst/>
          </a:prstGeom>
          <a:solidFill>
            <a:srgbClr val="171B1B">
              <a:alpha val="92000"/>
            </a:srgbClr>
          </a:solidFill>
          <a:ln w="12700">
            <a:solidFill>
              <a:srgbClr val="333333">
                <a:alpha val="0"/>
              </a:srgbClr>
            </a:solidFill>
            <a:prstDash val="solid"/>
          </a:ln>
        </p:spPr>
      </p:sp>
      <p:sp>
        <p:nvSpPr>
          <p:cNvPr id="5" name="Text 2"/>
          <p:cNvSpPr/>
          <p:nvPr/>
        </p:nvSpPr>
        <p:spPr>
          <a:xfrm>
            <a:off x="594360" y="3456432"/>
            <a:ext cx="43891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THE INVITATION</a:t>
            </a:r>
            <a:endParaRPr lang="en-US" sz="850" dirty="0"/>
          </a:p>
        </p:txBody>
      </p:sp>
      <p:sp>
        <p:nvSpPr>
          <p:cNvPr id="6" name="Text 3"/>
          <p:cNvSpPr/>
          <p:nvPr/>
        </p:nvSpPr>
        <p:spPr>
          <a:xfrm>
            <a:off x="594360" y="3703320"/>
            <a:ext cx="4480560" cy="566928"/>
          </a:xfrm>
          <a:prstGeom prst="rect">
            <a:avLst/>
          </a:prstGeom>
          <a:noFill/>
          <a:ln/>
        </p:spPr>
        <p:txBody>
          <a:bodyPr wrap="square" lIns="0" tIns="0" rIns="0" bIns="0" rtlCol="0" anchor="ctr">
            <a:normAutofit/>
          </a:bodyPr>
          <a:lstStyle/>
          <a:p>
            <a:pPr algn="l" indent="0" marL="0">
              <a:buNone/>
            </a:pPr>
            <a:r>
              <a:rPr lang="en-US" sz="2800" dirty="0">
                <a:solidFill>
                  <a:srgbClr val="E4BD96"/>
                </a:solidFill>
                <a:latin typeface="Spectral" pitchFamily="34" charset="0"/>
                <a:ea typeface="Spectral" pitchFamily="34" charset="-122"/>
                <a:cs typeface="Spectral" pitchFamily="34" charset="-120"/>
              </a:rPr>
              <a:t>Open If You Dare</a:t>
            </a:r>
            <a:endParaRPr lang="en-US" sz="2800" dirty="0"/>
          </a:p>
        </p:txBody>
      </p:sp>
      <p:sp>
        <p:nvSpPr>
          <p:cNvPr id="7" name="Text 4"/>
          <p:cNvSpPr/>
          <p:nvPr/>
        </p:nvSpPr>
        <p:spPr>
          <a:xfrm>
            <a:off x="5349240" y="3429000"/>
            <a:ext cx="3200400" cy="1097280"/>
          </a:xfrm>
          <a:prstGeom prst="rect">
            <a:avLst/>
          </a:prstGeom>
          <a:noFill/>
          <a:ln/>
        </p:spPr>
        <p:txBody>
          <a:bodyPr wrap="square" lIns="0" tIns="0" rIns="0" bIns="0" rtlCol="0" anchor="t">
            <a:normAutofit/>
          </a:bodyPr>
          <a:lstStyle/>
          <a:p>
            <a:pPr algn="l" indent="0" marL="0">
              <a:spcAft>
                <a:spcPts val="900"/>
              </a:spcAft>
              <a:buNone/>
            </a:pPr>
            <a:r>
              <a:rPr lang="en-US" sz="1150" dirty="0">
                <a:solidFill>
                  <a:srgbClr val="E4BD96">
                    <a:alpha val="90000"/>
                  </a:srgbClr>
                </a:solidFill>
                <a:latin typeface="Spectral" pitchFamily="34" charset="0"/>
                <a:ea typeface="Spectral" pitchFamily="34" charset="-122"/>
                <a:cs typeface="Spectral" pitchFamily="34" charset="-120"/>
              </a:rPr>
              <a:t>Inside each wax-sealed envelope is an illustrated map that lays out the evening, providing further instructions for The Hunt. As the night unfolds, the map becomes their guide, leading them to each immersive activation where they'll uncover clues, collect stamps, and piece together Dracula's story.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68000"/>
            </a:srgbClr>
          </a:solidFill>
          <a:ln w="12700">
            <a:solidFill>
              <a:srgbClr val="333333">
                <a:alpha val="0"/>
              </a:srgbClr>
            </a:solidFill>
            <a:prstDash val="solid"/>
          </a:ln>
        </p:spPr>
      </p:sp>
      <p:sp>
        <p:nvSpPr>
          <p:cNvPr id="4" name="Text 1"/>
          <p:cNvSpPr/>
          <p:nvPr/>
        </p:nvSpPr>
        <p:spPr>
          <a:xfrm>
            <a:off x="731520" y="685800"/>
            <a:ext cx="34747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GUESTS</a:t>
            </a:r>
            <a:endParaRPr lang="en-US" sz="850" dirty="0"/>
          </a:p>
        </p:txBody>
      </p:sp>
      <p:sp>
        <p:nvSpPr>
          <p:cNvPr id="5" name="Text 2"/>
          <p:cNvSpPr/>
          <p:nvPr/>
        </p:nvSpPr>
        <p:spPr>
          <a:xfrm>
            <a:off x="731520" y="941832"/>
            <a:ext cx="4023360" cy="960120"/>
          </a:xfrm>
          <a:prstGeom prst="rect">
            <a:avLst/>
          </a:prstGeom>
          <a:noFill/>
          <a:ln/>
        </p:spPr>
        <p:txBody>
          <a:bodyPr wrap="square" lIns="0" tIns="0" rIns="0" bIns="0" rtlCol="0" anchor="ctr">
            <a:normAutofit/>
          </a:bodyPr>
          <a:lstStyle/>
          <a:p>
            <a:pPr algn="l" indent="0" marL="0">
              <a:buNone/>
            </a:pPr>
            <a:r>
              <a:rPr lang="en-US" sz="3300" dirty="0">
                <a:solidFill>
                  <a:srgbClr val="E4BD96"/>
                </a:solidFill>
                <a:latin typeface="Spectral" pitchFamily="34" charset="0"/>
                <a:ea typeface="Spectral" pitchFamily="34" charset="-122"/>
                <a:cs typeface="Spectral" pitchFamily="34" charset="-120"/>
              </a:rPr>
              <a:t>The Dress Code</a:t>
            </a:r>
            <a:endParaRPr lang="en-US" sz="3300" dirty="0"/>
          </a:p>
        </p:txBody>
      </p:sp>
      <p:sp>
        <p:nvSpPr>
          <p:cNvPr id="6" name="Text 3"/>
          <p:cNvSpPr/>
          <p:nvPr/>
        </p:nvSpPr>
        <p:spPr>
          <a:xfrm>
            <a:off x="1325880" y="2331720"/>
            <a:ext cx="6492240" cy="1463040"/>
          </a:xfrm>
          <a:prstGeom prst="rect">
            <a:avLst/>
          </a:prstGeom>
          <a:noFill/>
          <a:ln/>
        </p:spPr>
        <p:txBody>
          <a:bodyPr wrap="square" lIns="0" tIns="0" rIns="0" bIns="0" rtlCol="0" anchor="t">
            <a:normAutofit/>
          </a:bodyPr>
          <a:lstStyle/>
          <a:p>
            <a:pPr algn="ctr" indent="0" marL="0">
              <a:spcAft>
                <a:spcPts val="900"/>
              </a:spcAft>
              <a:buNone/>
            </a:pPr>
            <a:r>
              <a:rPr lang="en-US" sz="1500" dirty="0">
                <a:solidFill>
                  <a:srgbClr val="E4BD96">
                    <a:alpha val="90000"/>
                  </a:srgbClr>
                </a:solidFill>
                <a:latin typeface="Spectral" pitchFamily="34" charset="0"/>
                <a:ea typeface="Spectral" pitchFamily="34" charset="-122"/>
                <a:cs typeface="Spectral" pitchFamily="34" charset="-120"/>
              </a:rPr>
              <a:t>The Hunt invites guests to interpret Dracula through high fashion, embracing dramatic silhouettes, rich textures, and couture rooted in gothic glamour. Think modern vampire, not costume, where every look feels worthy of the front row.</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54000"/>
            </a:srgbClr>
          </a:solidFill>
          <a:ln w="12700">
            <a:solidFill>
              <a:srgbClr val="333333">
                <a:alpha val="0"/>
              </a:srgbClr>
            </a:solidFill>
            <a:prstDash val="solid"/>
          </a:ln>
        </p:spPr>
      </p:sp>
      <p:sp>
        <p:nvSpPr>
          <p:cNvPr id="4" name="Text 1"/>
          <p:cNvSpPr/>
          <p:nvPr/>
        </p:nvSpPr>
        <p:spPr>
          <a:xfrm>
            <a:off x="457200" y="301752"/>
            <a:ext cx="310896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DINING</a:t>
            </a:r>
            <a:endParaRPr lang="en-US" sz="850" dirty="0"/>
          </a:p>
        </p:txBody>
      </p:sp>
      <p:sp>
        <p:nvSpPr>
          <p:cNvPr id="5" name="Text 2"/>
          <p:cNvSpPr/>
          <p:nvPr/>
        </p:nvSpPr>
        <p:spPr>
          <a:xfrm>
            <a:off x="457200" y="512064"/>
            <a:ext cx="4572000" cy="457200"/>
          </a:xfrm>
          <a:prstGeom prst="rect">
            <a:avLst/>
          </a:prstGeom>
          <a:noFill/>
          <a:ln/>
        </p:spPr>
        <p:txBody>
          <a:bodyPr wrap="square" lIns="0" tIns="0" rIns="0" bIns="0" rtlCol="0" anchor="ctr">
            <a:normAutofit/>
          </a:bodyPr>
          <a:lstStyle/>
          <a:p>
            <a:pPr algn="l" indent="0" marL="0">
              <a:buNone/>
            </a:pPr>
            <a:r>
              <a:rPr lang="en-US" sz="2600" dirty="0">
                <a:solidFill>
                  <a:srgbClr val="E4BD96"/>
                </a:solidFill>
                <a:latin typeface="Spectral" pitchFamily="34" charset="0"/>
                <a:ea typeface="Spectral" pitchFamily="34" charset="-122"/>
                <a:cs typeface="Spectral" pitchFamily="34" charset="-120"/>
              </a:rPr>
              <a:t>The Menu</a:t>
            </a:r>
            <a:endParaRPr lang="en-US" sz="2600" dirty="0"/>
          </a:p>
        </p:txBody>
      </p:sp>
      <p:pic>
        <p:nvPicPr>
          <p:cNvPr id="6" name="Image 1" descr="The Grazing Table">    </p:cNvPr>
          <p:cNvPicPr>
            <a:picLocks noChangeAspect="1"/>
          </p:cNvPicPr>
          <p:nvPr/>
        </p:nvPicPr>
        <p:blipFill>
          <a:blip r:embed="rId2"/>
          <a:srcRect l="0" r="0" t="0" b="0"/>
          <a:stretch/>
        </p:blipFill>
        <p:spPr>
          <a:xfrm>
            <a:off x="457200" y="1078992"/>
            <a:ext cx="1975104" cy="3520440"/>
          </a:xfrm>
          <a:prstGeom prst="rect">
            <a:avLst/>
          </a:prstGeom>
        </p:spPr>
      </p:pic>
      <p:sp>
        <p:nvSpPr>
          <p:cNvPr id="7" name="Shape 3"/>
          <p:cNvSpPr/>
          <p:nvPr/>
        </p:nvSpPr>
        <p:spPr>
          <a:xfrm>
            <a:off x="457200" y="1078992"/>
            <a:ext cx="1975104" cy="3520440"/>
          </a:xfrm>
          <a:prstGeom prst="rect">
            <a:avLst/>
          </a:prstGeom>
          <a:solidFill>
            <a:srgbClr val="171B1B">
              <a:alpha val="80000"/>
            </a:srgbClr>
          </a:solidFill>
          <a:ln w="12700">
            <a:solidFill>
              <a:srgbClr val="333333">
                <a:alpha val="0"/>
              </a:srgbClr>
            </a:solidFill>
            <a:prstDash val="solid"/>
          </a:ln>
        </p:spPr>
      </p:sp>
      <p:sp>
        <p:nvSpPr>
          <p:cNvPr id="8" name="Shape 4"/>
          <p:cNvSpPr/>
          <p:nvPr/>
        </p:nvSpPr>
        <p:spPr>
          <a:xfrm>
            <a:off x="457200" y="2980944"/>
            <a:ext cx="1975104" cy="1618488"/>
          </a:xfrm>
          <a:prstGeom prst="rect">
            <a:avLst/>
          </a:prstGeom>
          <a:solidFill>
            <a:srgbClr val="171B1B">
              <a:alpha val="93000"/>
            </a:srgbClr>
          </a:solidFill>
          <a:ln w="12700">
            <a:solidFill>
              <a:srgbClr val="333333">
                <a:alpha val="0"/>
              </a:srgbClr>
            </a:solidFill>
            <a:prstDash val="solid"/>
          </a:ln>
        </p:spPr>
      </p:sp>
      <p:sp>
        <p:nvSpPr>
          <p:cNvPr id="9" name="Text 5"/>
          <p:cNvSpPr/>
          <p:nvPr/>
        </p:nvSpPr>
        <p:spPr>
          <a:xfrm>
            <a:off x="621792" y="3154680"/>
            <a:ext cx="16459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TABLE</a:t>
            </a:r>
            <a:endParaRPr lang="en-US" sz="850" dirty="0"/>
          </a:p>
        </p:txBody>
      </p:sp>
      <p:sp>
        <p:nvSpPr>
          <p:cNvPr id="10" name="Text 6"/>
          <p:cNvSpPr/>
          <p:nvPr/>
        </p:nvSpPr>
        <p:spPr>
          <a:xfrm>
            <a:off x="621792" y="3438144"/>
            <a:ext cx="1645920" cy="512064"/>
          </a:xfrm>
          <a:prstGeom prst="rect">
            <a:avLst/>
          </a:prstGeom>
          <a:noFill/>
          <a:ln/>
        </p:spPr>
        <p:txBody>
          <a:bodyPr wrap="square" lIns="0" tIns="0" rIns="0" bIns="0" rtlCol="0" anchor="b">
            <a:normAutofit/>
          </a:bodyPr>
          <a:lstStyle/>
          <a:p>
            <a:pPr indent="0" marL="0">
              <a:buNone/>
            </a:pPr>
            <a:r>
              <a:rPr lang="en-US" sz="1600" b="1" dirty="0">
                <a:solidFill>
                  <a:srgbClr val="FFFFFF"/>
                </a:solidFill>
                <a:latin typeface="Spectral" pitchFamily="34" charset="0"/>
                <a:ea typeface="Spectral" pitchFamily="34" charset="-122"/>
                <a:cs typeface="Spectral" pitchFamily="34" charset="-120"/>
              </a:rPr>
              <a:t>The Grazing Table</a:t>
            </a:r>
            <a:endParaRPr lang="en-US" sz="1600" dirty="0"/>
          </a:p>
        </p:txBody>
      </p:sp>
      <p:sp>
        <p:nvSpPr>
          <p:cNvPr id="11" name="Text 7"/>
          <p:cNvSpPr/>
          <p:nvPr/>
        </p:nvSpPr>
        <p:spPr>
          <a:xfrm>
            <a:off x="621792" y="4005072"/>
            <a:ext cx="1645920" cy="557784"/>
          </a:xfrm>
          <a:prstGeom prst="rect">
            <a:avLst/>
          </a:prstGeom>
          <a:noFill/>
          <a:ln/>
        </p:spPr>
        <p:txBody>
          <a:bodyPr wrap="square" lIns="0" tIns="0" rIns="0" bIns="0" rtlCol="0" anchor="t">
            <a:normAutofit/>
          </a:bodyPr>
          <a:lstStyle/>
          <a:p>
            <a:pPr indent="0" marL="0">
              <a:buNone/>
            </a:pPr>
            <a:r>
              <a:rPr lang="en-US" sz="840" dirty="0">
                <a:solidFill>
                  <a:srgbClr val="FFFFFF">
                    <a:alpha val="96000"/>
                  </a:srgbClr>
                </a:solidFill>
                <a:latin typeface="Spectral" pitchFamily="34" charset="0"/>
                <a:ea typeface="Spectral" pitchFamily="34" charset="-122"/>
                <a:cs typeface="Spectral" pitchFamily="34" charset="-120"/>
              </a:rPr>
              <a:t>A dramatic grazing table reimagines Dracula through elevated bites featuring blood oranges, black cherries, dark chocolate, and other sophisticated nods to vampire lore. Each dish draws from iconic symbols and moments from the novel.</a:t>
            </a:r>
            <a:endParaRPr lang="en-US" sz="840" dirty="0"/>
          </a:p>
        </p:txBody>
      </p:sp>
      <p:pic>
        <p:nvPicPr>
          <p:cNvPr id="12" name="Image 2" descr="Smoked Old Fashioned">    </p:cNvPr>
          <p:cNvPicPr>
            <a:picLocks noChangeAspect="1"/>
          </p:cNvPicPr>
          <p:nvPr/>
        </p:nvPicPr>
        <p:blipFill>
          <a:blip r:embed="rId3"/>
          <a:srcRect l="0" r="0" t="0" b="0"/>
          <a:stretch/>
        </p:blipFill>
        <p:spPr>
          <a:xfrm>
            <a:off x="2542032" y="1078992"/>
            <a:ext cx="1975104" cy="3520440"/>
          </a:xfrm>
          <a:prstGeom prst="rect">
            <a:avLst/>
          </a:prstGeom>
        </p:spPr>
      </p:pic>
      <p:sp>
        <p:nvSpPr>
          <p:cNvPr id="13" name="Shape 8"/>
          <p:cNvSpPr/>
          <p:nvPr/>
        </p:nvSpPr>
        <p:spPr>
          <a:xfrm>
            <a:off x="2542032" y="1078992"/>
            <a:ext cx="1975104" cy="3520440"/>
          </a:xfrm>
          <a:prstGeom prst="rect">
            <a:avLst/>
          </a:prstGeom>
          <a:solidFill>
            <a:srgbClr val="171B1B">
              <a:alpha val="80000"/>
            </a:srgbClr>
          </a:solidFill>
          <a:ln w="12700">
            <a:solidFill>
              <a:srgbClr val="333333">
                <a:alpha val="0"/>
              </a:srgbClr>
            </a:solidFill>
            <a:prstDash val="solid"/>
          </a:ln>
        </p:spPr>
      </p:sp>
      <p:sp>
        <p:nvSpPr>
          <p:cNvPr id="14" name="Shape 9"/>
          <p:cNvSpPr/>
          <p:nvPr/>
        </p:nvSpPr>
        <p:spPr>
          <a:xfrm>
            <a:off x="2542032" y="2980944"/>
            <a:ext cx="1975104" cy="1618488"/>
          </a:xfrm>
          <a:prstGeom prst="rect">
            <a:avLst/>
          </a:prstGeom>
          <a:solidFill>
            <a:srgbClr val="171B1B">
              <a:alpha val="93000"/>
            </a:srgbClr>
          </a:solidFill>
          <a:ln w="12700">
            <a:solidFill>
              <a:srgbClr val="333333">
                <a:alpha val="0"/>
              </a:srgbClr>
            </a:solidFill>
            <a:prstDash val="solid"/>
          </a:ln>
        </p:spPr>
      </p:sp>
      <p:sp>
        <p:nvSpPr>
          <p:cNvPr id="15" name="Text 10"/>
          <p:cNvSpPr/>
          <p:nvPr/>
        </p:nvSpPr>
        <p:spPr>
          <a:xfrm>
            <a:off x="2706624" y="3154680"/>
            <a:ext cx="16459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DRACULA</a:t>
            </a:r>
            <a:endParaRPr lang="en-US" sz="850" dirty="0"/>
          </a:p>
        </p:txBody>
      </p:sp>
      <p:sp>
        <p:nvSpPr>
          <p:cNvPr id="16" name="Text 11"/>
          <p:cNvSpPr/>
          <p:nvPr/>
        </p:nvSpPr>
        <p:spPr>
          <a:xfrm>
            <a:off x="2706624" y="3438144"/>
            <a:ext cx="1645920" cy="512064"/>
          </a:xfrm>
          <a:prstGeom prst="rect">
            <a:avLst/>
          </a:prstGeom>
          <a:noFill/>
          <a:ln/>
        </p:spPr>
        <p:txBody>
          <a:bodyPr wrap="square" lIns="0" tIns="0" rIns="0" bIns="0" rtlCol="0" anchor="b">
            <a:normAutofit/>
          </a:bodyPr>
          <a:lstStyle/>
          <a:p>
            <a:pPr indent="0" marL="0">
              <a:buNone/>
            </a:pPr>
            <a:r>
              <a:rPr lang="en-US" sz="1600" b="1" dirty="0">
                <a:solidFill>
                  <a:srgbClr val="FFFFFF"/>
                </a:solidFill>
                <a:latin typeface="Spectral" pitchFamily="34" charset="0"/>
                <a:ea typeface="Spectral" pitchFamily="34" charset="-122"/>
                <a:cs typeface="Spectral" pitchFamily="34" charset="-120"/>
              </a:rPr>
              <a:t>Smoked Old Fashioned</a:t>
            </a:r>
            <a:endParaRPr lang="en-US" sz="1600" dirty="0"/>
          </a:p>
        </p:txBody>
      </p:sp>
      <p:sp>
        <p:nvSpPr>
          <p:cNvPr id="17" name="Text 12"/>
          <p:cNvSpPr/>
          <p:nvPr/>
        </p:nvSpPr>
        <p:spPr>
          <a:xfrm>
            <a:off x="2706624" y="4005072"/>
            <a:ext cx="1645920" cy="557784"/>
          </a:xfrm>
          <a:prstGeom prst="rect">
            <a:avLst/>
          </a:prstGeom>
          <a:noFill/>
          <a:ln/>
        </p:spPr>
        <p:txBody>
          <a:bodyPr wrap="square" lIns="0" tIns="0" rIns="0" bIns="0" rtlCol="0" anchor="t">
            <a:normAutofit/>
          </a:bodyPr>
          <a:lstStyle/>
          <a:p>
            <a:pPr indent="0" marL="0">
              <a:buNone/>
            </a:pPr>
            <a:r>
              <a:rPr lang="en-US" sz="840" dirty="0">
                <a:solidFill>
                  <a:srgbClr val="FFFFFF">
                    <a:alpha val="96000"/>
                  </a:srgbClr>
                </a:solidFill>
                <a:latin typeface="Spectral" pitchFamily="34" charset="0"/>
                <a:ea typeface="Spectral" pitchFamily="34" charset="-122"/>
                <a:cs typeface="Spectral" pitchFamily="34" charset="-120"/>
              </a:rPr>
              <a:t>With blood orange.</a:t>
            </a:r>
            <a:endParaRPr lang="en-US" sz="840" dirty="0"/>
          </a:p>
        </p:txBody>
      </p:sp>
      <p:pic>
        <p:nvPicPr>
          <p:cNvPr id="18" name="Image 3" descr="Elderflower &amp; Champagne Spritz">    </p:cNvPr>
          <p:cNvPicPr>
            <a:picLocks noChangeAspect="1"/>
          </p:cNvPicPr>
          <p:nvPr/>
        </p:nvPicPr>
        <p:blipFill>
          <a:blip r:embed="rId4"/>
          <a:srcRect l="0" r="0" t="0" b="0"/>
          <a:stretch/>
        </p:blipFill>
        <p:spPr>
          <a:xfrm>
            <a:off x="4626864" y="1078992"/>
            <a:ext cx="1975104" cy="3520440"/>
          </a:xfrm>
          <a:prstGeom prst="rect">
            <a:avLst/>
          </a:prstGeom>
        </p:spPr>
      </p:pic>
      <p:sp>
        <p:nvSpPr>
          <p:cNvPr id="19" name="Shape 13"/>
          <p:cNvSpPr/>
          <p:nvPr/>
        </p:nvSpPr>
        <p:spPr>
          <a:xfrm>
            <a:off x="4626864" y="1078992"/>
            <a:ext cx="1975104" cy="3520440"/>
          </a:xfrm>
          <a:prstGeom prst="rect">
            <a:avLst/>
          </a:prstGeom>
          <a:solidFill>
            <a:srgbClr val="171B1B">
              <a:alpha val="80000"/>
            </a:srgbClr>
          </a:solidFill>
          <a:ln w="12700">
            <a:solidFill>
              <a:srgbClr val="333333">
                <a:alpha val="0"/>
              </a:srgbClr>
            </a:solidFill>
            <a:prstDash val="solid"/>
          </a:ln>
        </p:spPr>
      </p:sp>
      <p:sp>
        <p:nvSpPr>
          <p:cNvPr id="20" name="Shape 14"/>
          <p:cNvSpPr/>
          <p:nvPr/>
        </p:nvSpPr>
        <p:spPr>
          <a:xfrm>
            <a:off x="4626864" y="2980944"/>
            <a:ext cx="1975104" cy="1618488"/>
          </a:xfrm>
          <a:prstGeom prst="rect">
            <a:avLst/>
          </a:prstGeom>
          <a:solidFill>
            <a:srgbClr val="171B1B">
              <a:alpha val="93000"/>
            </a:srgbClr>
          </a:solidFill>
          <a:ln w="12700">
            <a:solidFill>
              <a:srgbClr val="333333">
                <a:alpha val="0"/>
              </a:srgbClr>
            </a:solidFill>
            <a:prstDash val="solid"/>
          </a:ln>
        </p:spPr>
      </p:sp>
      <p:sp>
        <p:nvSpPr>
          <p:cNvPr id="21" name="Text 15"/>
          <p:cNvSpPr/>
          <p:nvPr/>
        </p:nvSpPr>
        <p:spPr>
          <a:xfrm>
            <a:off x="4791456" y="3154680"/>
            <a:ext cx="16459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MINA</a:t>
            </a:r>
            <a:endParaRPr lang="en-US" sz="850" dirty="0"/>
          </a:p>
        </p:txBody>
      </p:sp>
      <p:sp>
        <p:nvSpPr>
          <p:cNvPr id="22" name="Text 16"/>
          <p:cNvSpPr/>
          <p:nvPr/>
        </p:nvSpPr>
        <p:spPr>
          <a:xfrm>
            <a:off x="4791456" y="3438144"/>
            <a:ext cx="1645920" cy="512064"/>
          </a:xfrm>
          <a:prstGeom prst="rect">
            <a:avLst/>
          </a:prstGeom>
          <a:noFill/>
          <a:ln/>
        </p:spPr>
        <p:txBody>
          <a:bodyPr wrap="square" lIns="0" tIns="0" rIns="0" bIns="0" rtlCol="0" anchor="b">
            <a:normAutofit/>
          </a:bodyPr>
          <a:lstStyle/>
          <a:p>
            <a:pPr indent="0" marL="0">
              <a:buNone/>
            </a:pPr>
            <a:r>
              <a:rPr lang="en-US" sz="1600" b="1" dirty="0">
                <a:solidFill>
                  <a:srgbClr val="FFFFFF"/>
                </a:solidFill>
                <a:latin typeface="Spectral" pitchFamily="34" charset="0"/>
                <a:ea typeface="Spectral" pitchFamily="34" charset="-122"/>
                <a:cs typeface="Spectral" pitchFamily="34" charset="-120"/>
              </a:rPr>
              <a:t>Elderflower &amp; Champagne Spritz</a:t>
            </a:r>
            <a:endParaRPr lang="en-US" sz="1600" dirty="0"/>
          </a:p>
        </p:txBody>
      </p:sp>
      <p:pic>
        <p:nvPicPr>
          <p:cNvPr id="23" name="Image 4" descr="Black Cherry Gin Cocktail">    </p:cNvPr>
          <p:cNvPicPr>
            <a:picLocks noChangeAspect="1"/>
          </p:cNvPicPr>
          <p:nvPr/>
        </p:nvPicPr>
        <p:blipFill>
          <a:blip r:embed="rId5"/>
          <a:srcRect l="0" r="0" t="0" b="0"/>
          <a:stretch/>
        </p:blipFill>
        <p:spPr>
          <a:xfrm>
            <a:off x="6711696" y="1078992"/>
            <a:ext cx="1975104" cy="3520440"/>
          </a:xfrm>
          <a:prstGeom prst="rect">
            <a:avLst/>
          </a:prstGeom>
        </p:spPr>
      </p:pic>
      <p:sp>
        <p:nvSpPr>
          <p:cNvPr id="24" name="Shape 17"/>
          <p:cNvSpPr/>
          <p:nvPr/>
        </p:nvSpPr>
        <p:spPr>
          <a:xfrm>
            <a:off x="6711696" y="1078992"/>
            <a:ext cx="1975104" cy="3520440"/>
          </a:xfrm>
          <a:prstGeom prst="rect">
            <a:avLst/>
          </a:prstGeom>
          <a:solidFill>
            <a:srgbClr val="171B1B">
              <a:alpha val="80000"/>
            </a:srgbClr>
          </a:solidFill>
          <a:ln w="12700">
            <a:solidFill>
              <a:srgbClr val="333333">
                <a:alpha val="0"/>
              </a:srgbClr>
            </a:solidFill>
            <a:prstDash val="solid"/>
          </a:ln>
        </p:spPr>
      </p:sp>
      <p:sp>
        <p:nvSpPr>
          <p:cNvPr id="25" name="Shape 18"/>
          <p:cNvSpPr/>
          <p:nvPr/>
        </p:nvSpPr>
        <p:spPr>
          <a:xfrm>
            <a:off x="6711696" y="2980944"/>
            <a:ext cx="1975104" cy="1618488"/>
          </a:xfrm>
          <a:prstGeom prst="rect">
            <a:avLst/>
          </a:prstGeom>
          <a:solidFill>
            <a:srgbClr val="171B1B">
              <a:alpha val="93000"/>
            </a:srgbClr>
          </a:solidFill>
          <a:ln w="12700">
            <a:solidFill>
              <a:srgbClr val="333333">
                <a:alpha val="0"/>
              </a:srgbClr>
            </a:solidFill>
            <a:prstDash val="solid"/>
          </a:ln>
        </p:spPr>
      </p:sp>
      <p:sp>
        <p:nvSpPr>
          <p:cNvPr id="26" name="Text 19"/>
          <p:cNvSpPr/>
          <p:nvPr/>
        </p:nvSpPr>
        <p:spPr>
          <a:xfrm>
            <a:off x="6876288" y="3154680"/>
            <a:ext cx="16459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LUCY</a:t>
            </a:r>
            <a:endParaRPr lang="en-US" sz="850" dirty="0"/>
          </a:p>
        </p:txBody>
      </p:sp>
      <p:sp>
        <p:nvSpPr>
          <p:cNvPr id="27" name="Text 20"/>
          <p:cNvSpPr/>
          <p:nvPr/>
        </p:nvSpPr>
        <p:spPr>
          <a:xfrm>
            <a:off x="6876288" y="3438144"/>
            <a:ext cx="1645920" cy="512064"/>
          </a:xfrm>
          <a:prstGeom prst="rect">
            <a:avLst/>
          </a:prstGeom>
          <a:noFill/>
          <a:ln/>
        </p:spPr>
        <p:txBody>
          <a:bodyPr wrap="square" lIns="0" tIns="0" rIns="0" bIns="0" rtlCol="0" anchor="b">
            <a:normAutofit/>
          </a:bodyPr>
          <a:lstStyle/>
          <a:p>
            <a:pPr indent="0" marL="0">
              <a:buNone/>
            </a:pPr>
            <a:r>
              <a:rPr lang="en-US" sz="1600" b="1" dirty="0">
                <a:solidFill>
                  <a:srgbClr val="FFFFFF"/>
                </a:solidFill>
                <a:latin typeface="Spectral" pitchFamily="34" charset="0"/>
                <a:ea typeface="Spectral" pitchFamily="34" charset="-122"/>
                <a:cs typeface="Spectral" pitchFamily="34" charset="-120"/>
              </a:rPr>
              <a:t>Black Cherry Gin Cocktail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andlelit Dracula-inspired tablescape">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78000"/>
            </a:srgbClr>
          </a:solidFill>
          <a:ln w="12700">
            <a:solidFill>
              <a:srgbClr val="333333">
                <a:alpha val="0"/>
              </a:srgbClr>
            </a:solidFill>
            <a:prstDash val="solid"/>
          </a:ln>
        </p:spPr>
      </p:sp>
      <p:sp>
        <p:nvSpPr>
          <p:cNvPr id="4" name="Text 1"/>
          <p:cNvSpPr/>
          <p:nvPr/>
        </p:nvSpPr>
        <p:spPr>
          <a:xfrm>
            <a:off x="1444752" y="685800"/>
            <a:ext cx="34747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ATMOSPHERE</a:t>
            </a:r>
            <a:endParaRPr lang="en-US" sz="850" dirty="0"/>
          </a:p>
        </p:txBody>
      </p:sp>
      <p:sp>
        <p:nvSpPr>
          <p:cNvPr id="5" name="Text 2"/>
          <p:cNvSpPr/>
          <p:nvPr/>
        </p:nvSpPr>
        <p:spPr>
          <a:xfrm>
            <a:off x="1444752" y="941832"/>
            <a:ext cx="4023360" cy="960120"/>
          </a:xfrm>
          <a:prstGeom prst="rect">
            <a:avLst/>
          </a:prstGeom>
          <a:noFill/>
          <a:ln/>
        </p:spPr>
        <p:txBody>
          <a:bodyPr wrap="square" lIns="0" tIns="0" rIns="0" bIns="0" rtlCol="0" anchor="ctr">
            <a:normAutofit/>
          </a:bodyPr>
          <a:lstStyle/>
          <a:p>
            <a:pPr algn="l" indent="0" marL="0">
              <a:buNone/>
            </a:pPr>
            <a:r>
              <a:rPr lang="en-US" sz="3300" dirty="0">
                <a:solidFill>
                  <a:srgbClr val="E4BD96"/>
                </a:solidFill>
                <a:latin typeface="Spectral" pitchFamily="34" charset="0"/>
                <a:ea typeface="Spectral" pitchFamily="34" charset="-122"/>
                <a:cs typeface="Spectral" pitchFamily="34" charset="-120"/>
              </a:rPr>
              <a:t>The Castle</a:t>
            </a:r>
            <a:endParaRPr lang="en-US" sz="3300" dirty="0"/>
          </a:p>
          <a:p>
            <a:pPr algn="l" indent="0" marL="0">
              <a:buNone/>
            </a:pPr>
            <a:r>
              <a:rPr lang="en-US" sz="3300" dirty="0">
                <a:solidFill>
                  <a:srgbClr val="E4BD96"/>
                </a:solidFill>
                <a:latin typeface="Spectral" pitchFamily="34" charset="0"/>
                <a:ea typeface="Spectral" pitchFamily="34" charset="-122"/>
                <a:cs typeface="Spectral" pitchFamily="34" charset="-120"/>
              </a:rPr>
              <a:t>Comes To Life</a:t>
            </a:r>
            <a:endParaRPr lang="en-US" sz="3300" dirty="0"/>
          </a:p>
        </p:txBody>
      </p:sp>
      <p:sp>
        <p:nvSpPr>
          <p:cNvPr id="6" name="Text 3"/>
          <p:cNvSpPr/>
          <p:nvPr/>
        </p:nvSpPr>
        <p:spPr>
          <a:xfrm>
            <a:off x="1444752" y="2359152"/>
            <a:ext cx="34747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THE TABLE BECOMES THE CENTERPIECE</a:t>
            </a:r>
            <a:endParaRPr lang="en-US" sz="850" dirty="0"/>
          </a:p>
        </p:txBody>
      </p:sp>
      <p:sp>
        <p:nvSpPr>
          <p:cNvPr id="7" name="Text 4"/>
          <p:cNvSpPr/>
          <p:nvPr/>
        </p:nvSpPr>
        <p:spPr>
          <a:xfrm>
            <a:off x="1444752" y="2724912"/>
            <a:ext cx="3520440" cy="1691640"/>
          </a:xfrm>
          <a:prstGeom prst="rect">
            <a:avLst/>
          </a:prstGeom>
          <a:noFill/>
          <a:ln/>
        </p:spPr>
        <p:txBody>
          <a:bodyPr wrap="square" lIns="0" tIns="0" rIns="0" bIns="0" rtlCol="0" anchor="t">
            <a:normAutofit/>
          </a:bodyPr>
          <a:lstStyle/>
          <a:p>
            <a:pPr algn="l" indent="0" marL="0">
              <a:spcAft>
                <a:spcPts val="900"/>
              </a:spcAft>
              <a:buNone/>
            </a:pPr>
            <a:r>
              <a:rPr lang="en-US" sz="1250" dirty="0">
                <a:solidFill>
                  <a:srgbClr val="E4BD96">
                    <a:alpha val="90000"/>
                  </a:srgbClr>
                </a:solidFill>
                <a:latin typeface="Spectral" pitchFamily="34" charset="0"/>
                <a:ea typeface="Spectral" pitchFamily="34" charset="-122"/>
                <a:cs typeface="Spectral" pitchFamily="34" charset="-120"/>
              </a:rPr>
              <a:t>Lavish tablescapes overflowing with moss, florals, and candlelight</a:t>
            </a:r>
            <a:endParaRPr lang="en-US" sz="1250" dirty="0"/>
          </a:p>
          <a:p>
            <a:pPr algn="l" indent="0" marL="0">
              <a:spcAft>
                <a:spcPts val="900"/>
              </a:spcAft>
              <a:buNone/>
            </a:pPr>
            <a:endParaRPr lang="en-US" sz="1250" dirty="0"/>
          </a:p>
          <a:p>
            <a:pPr algn="l" indent="0" marL="0">
              <a:spcAft>
                <a:spcPts val="900"/>
              </a:spcAft>
              <a:buNone/>
            </a:pPr>
            <a:r>
              <a:rPr lang="en-US" sz="1250" dirty="0">
                <a:solidFill>
                  <a:srgbClr val="E4BD96">
                    <a:alpha val="90000"/>
                  </a:srgbClr>
                </a:solidFill>
                <a:latin typeface="Spectral" pitchFamily="34" charset="0"/>
                <a:ea typeface="Spectral" pitchFamily="34" charset="-122"/>
                <a:cs typeface="Spectral" pitchFamily="34" charset="-120"/>
              </a:rPr>
              <a:t>Hidden journal pages reveal forgotten moments from the novel before the investigation begins</a:t>
            </a:r>
            <a:endParaRPr lang="en-US" sz="1250" dirty="0"/>
          </a:p>
        </p:txBody>
      </p:sp>
      <p:sp>
        <p:nvSpPr>
          <p:cNvPr id="8" name="Text 5"/>
          <p:cNvSpPr/>
          <p:nvPr/>
        </p:nvSpPr>
        <p:spPr>
          <a:xfrm>
            <a:off x="4846320" y="2359152"/>
            <a:ext cx="34747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THE FEAST HAS A SOUNDTRACK</a:t>
            </a:r>
            <a:endParaRPr lang="en-US" sz="850" dirty="0"/>
          </a:p>
        </p:txBody>
      </p:sp>
      <p:sp>
        <p:nvSpPr>
          <p:cNvPr id="9" name="Text 6"/>
          <p:cNvSpPr/>
          <p:nvPr/>
        </p:nvSpPr>
        <p:spPr>
          <a:xfrm>
            <a:off x="4846320" y="2724912"/>
            <a:ext cx="3520440" cy="1691640"/>
          </a:xfrm>
          <a:prstGeom prst="rect">
            <a:avLst/>
          </a:prstGeom>
          <a:noFill/>
          <a:ln/>
        </p:spPr>
        <p:txBody>
          <a:bodyPr wrap="square" lIns="0" tIns="0" rIns="0" bIns="0" rtlCol="0" anchor="t">
            <a:normAutofit/>
          </a:bodyPr>
          <a:lstStyle/>
          <a:p>
            <a:pPr algn="l" indent="0" marL="0">
              <a:spcAft>
                <a:spcPts val="900"/>
              </a:spcAft>
              <a:buNone/>
            </a:pPr>
            <a:r>
              <a:rPr lang="en-US" sz="1250" dirty="0">
                <a:solidFill>
                  <a:srgbClr val="E4BD96">
                    <a:alpha val="90000"/>
                  </a:srgbClr>
                </a:solidFill>
                <a:latin typeface="Spectral" pitchFamily="34" charset="0"/>
                <a:ea typeface="Spectral" pitchFamily="34" charset="-122"/>
                <a:cs typeface="Spectral" pitchFamily="34" charset="-120"/>
              </a:rPr>
              <a:t>A live string quartet sets the tone as guests arrive and dine</a:t>
            </a:r>
            <a:endParaRPr lang="en-US" sz="1250" dirty="0"/>
          </a:p>
          <a:p>
            <a:pPr algn="l" indent="0" marL="0">
              <a:spcAft>
                <a:spcPts val="900"/>
              </a:spcAft>
              <a:buNone/>
            </a:pPr>
            <a:endParaRPr lang="en-US" sz="1250" dirty="0"/>
          </a:p>
          <a:p>
            <a:pPr algn="l" indent="0" marL="0">
              <a:spcAft>
                <a:spcPts val="900"/>
              </a:spcAft>
              <a:buNone/>
            </a:pPr>
            <a:r>
              <a:rPr lang="en-US" sz="1250" dirty="0">
                <a:solidFill>
                  <a:srgbClr val="E4BD96">
                    <a:alpha val="90000"/>
                  </a:srgbClr>
                </a:solidFill>
                <a:latin typeface="Spectral" pitchFamily="34" charset="0"/>
                <a:ea typeface="Spectral" pitchFamily="34" charset="-122"/>
                <a:cs typeface="Spectral" pitchFamily="34" charset="-120"/>
              </a:rPr>
              <a:t>Immersive sound design fills the space with whispers, turning pages, church bells, and wolves</a:t>
            </a:r>
            <a:endParaRPr lang="en-US" sz="1250" dirty="0"/>
          </a:p>
          <a:p>
            <a:pPr algn="l" indent="0" marL="0">
              <a:spcAft>
                <a:spcPts val="900"/>
              </a:spcAft>
              <a:buNone/>
            </a:pPr>
            <a:endParaRPr lang="en-US" sz="1250" dirty="0"/>
          </a:p>
          <a:p>
            <a:pPr algn="l" indent="0" marL="0">
              <a:spcAft>
                <a:spcPts val="900"/>
              </a:spcAft>
              <a:buNone/>
            </a:pPr>
            <a:r>
              <a:rPr lang="en-US" sz="1250" dirty="0">
                <a:solidFill>
                  <a:srgbClr val="E4BD96">
                    <a:alpha val="90000"/>
                  </a:srgbClr>
                </a:solidFill>
                <a:latin typeface="Spectral" pitchFamily="34" charset="0"/>
                <a:ea typeface="Spectral" pitchFamily="34" charset="-122"/>
                <a:cs typeface="Spectral" pitchFamily="34" charset="-120"/>
              </a:rPr>
              <a:t>Exclusive moments from Audible's narration drift through the dining room, surrounding guests with the voices of Dracula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he Hunt For Dracula">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80000"/>
            </a:srgbClr>
          </a:solidFill>
          <a:ln w="12700">
            <a:solidFill>
              <a:srgbClr val="333333">
                <a:alpha val="0"/>
              </a:srgbClr>
            </a:solidFill>
            <a:prstDash val="solid"/>
          </a:ln>
        </p:spPr>
      </p:sp>
      <p:sp>
        <p:nvSpPr>
          <p:cNvPr id="4" name="Shape 1"/>
          <p:cNvSpPr/>
          <p:nvPr/>
        </p:nvSpPr>
        <p:spPr>
          <a:xfrm>
            <a:off x="0" y="2971800"/>
            <a:ext cx="9144000" cy="2171700"/>
          </a:xfrm>
          <a:prstGeom prst="rect">
            <a:avLst/>
          </a:prstGeom>
          <a:solidFill>
            <a:srgbClr val="171B1B">
              <a:alpha val="92000"/>
            </a:srgbClr>
          </a:solidFill>
          <a:ln w="12700">
            <a:solidFill>
              <a:srgbClr val="333333">
                <a:alpha val="0"/>
              </a:srgbClr>
            </a:solidFill>
            <a:prstDash val="solid"/>
          </a:ln>
        </p:spPr>
      </p:sp>
      <p:sp>
        <p:nvSpPr>
          <p:cNvPr id="5" name="Text 2"/>
          <p:cNvSpPr/>
          <p:nvPr/>
        </p:nvSpPr>
        <p:spPr>
          <a:xfrm>
            <a:off x="594360" y="3456432"/>
            <a:ext cx="43891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THE MECHANIC</a:t>
            </a:r>
            <a:endParaRPr lang="en-US" sz="850" dirty="0"/>
          </a:p>
        </p:txBody>
      </p:sp>
      <p:sp>
        <p:nvSpPr>
          <p:cNvPr id="6" name="Text 3"/>
          <p:cNvSpPr/>
          <p:nvPr/>
        </p:nvSpPr>
        <p:spPr>
          <a:xfrm>
            <a:off x="594360" y="3703320"/>
            <a:ext cx="4480560" cy="566928"/>
          </a:xfrm>
          <a:prstGeom prst="rect">
            <a:avLst/>
          </a:prstGeom>
          <a:noFill/>
          <a:ln/>
        </p:spPr>
        <p:txBody>
          <a:bodyPr wrap="square" lIns="0" tIns="0" rIns="0" bIns="0" rtlCol="0" anchor="ctr">
            <a:normAutofit/>
          </a:bodyPr>
          <a:lstStyle/>
          <a:p>
            <a:pPr algn="l" indent="0" marL="0">
              <a:buNone/>
            </a:pPr>
            <a:r>
              <a:rPr lang="en-US" sz="2800" dirty="0">
                <a:solidFill>
                  <a:srgbClr val="E4BD96"/>
                </a:solidFill>
                <a:latin typeface="Spectral" pitchFamily="34" charset="0"/>
                <a:ea typeface="Spectral" pitchFamily="34" charset="-122"/>
                <a:cs typeface="Spectral" pitchFamily="34" charset="-120"/>
              </a:rPr>
              <a:t>The Hunt For Dracula</a:t>
            </a:r>
            <a:endParaRPr lang="en-US" sz="2800" dirty="0"/>
          </a:p>
        </p:txBody>
      </p:sp>
      <p:sp>
        <p:nvSpPr>
          <p:cNvPr id="7" name="Text 4"/>
          <p:cNvSpPr/>
          <p:nvPr/>
        </p:nvSpPr>
        <p:spPr>
          <a:xfrm>
            <a:off x="5349240" y="3246120"/>
            <a:ext cx="3200400" cy="1417320"/>
          </a:xfrm>
          <a:prstGeom prst="rect">
            <a:avLst/>
          </a:prstGeom>
          <a:noFill/>
          <a:ln/>
        </p:spPr>
        <p:txBody>
          <a:bodyPr wrap="square" lIns="0" tIns="0" rIns="0" bIns="0" rtlCol="0" anchor="t">
            <a:normAutofit/>
          </a:bodyPr>
          <a:lstStyle/>
          <a:p>
            <a:pPr algn="l" indent="0" marL="0">
              <a:spcAft>
                <a:spcPts val="900"/>
              </a:spcAft>
              <a:buNone/>
            </a:pPr>
            <a:r>
              <a:rPr lang="en-US" sz="880" dirty="0">
                <a:solidFill>
                  <a:srgbClr val="E4BD96">
                    <a:alpha val="90000"/>
                  </a:srgbClr>
                </a:solidFill>
                <a:latin typeface="Spectral" pitchFamily="34" charset="0"/>
                <a:ea typeface="Spectral" pitchFamily="34" charset="-122"/>
                <a:cs typeface="Spectral" pitchFamily="34" charset="-120"/>
              </a:rPr>
              <a:t>Using the map they received upon arrival, guests must visit every activation hidden throughout the venue to piece together the answer. At each stop, they uncover a new part of the story through audio, prophecy, or visual clues and receive a custom blood-red Audible stamp marking their progress.</a:t>
            </a:r>
            <a:endParaRPr lang="en-US" sz="880" dirty="0"/>
          </a:p>
          <a:p>
            <a:pPr algn="l" indent="0" marL="0">
              <a:spcAft>
                <a:spcPts val="900"/>
              </a:spcAft>
              <a:buNone/>
            </a:pPr>
            <a:endParaRPr lang="en-US" sz="880" dirty="0"/>
          </a:p>
          <a:p>
            <a:pPr algn="l" indent="0" marL="0">
              <a:spcAft>
                <a:spcPts val="900"/>
              </a:spcAft>
              <a:buNone/>
            </a:pPr>
            <a:r>
              <a:rPr lang="en-US" sz="880" dirty="0">
                <a:solidFill>
                  <a:srgbClr val="E4BD96">
                    <a:alpha val="90000"/>
                  </a:srgbClr>
                </a:solidFill>
                <a:latin typeface="Spectral" pitchFamily="34" charset="0"/>
                <a:ea typeface="Spectral" pitchFamily="34" charset="-122"/>
                <a:cs typeface="Spectral" pitchFamily="34" charset="-120"/>
              </a:rPr>
              <a:t>Each clue reveals more. Each branded stamp brings them closer. Only guests who complete the entire Hunt and collect every stamp can unlock The Midnight Revelation.</a:t>
            </a:r>
            <a:endParaRPr lang="en-US" sz="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54000"/>
            </a:srgbClr>
          </a:solidFill>
          <a:ln w="12700">
            <a:solidFill>
              <a:srgbClr val="333333">
                <a:alpha val="0"/>
              </a:srgbClr>
            </a:solidFill>
            <a:prstDash val="solid"/>
          </a:ln>
        </p:spPr>
      </p:sp>
      <p:sp>
        <p:nvSpPr>
          <p:cNvPr id="4" name="Text 1"/>
          <p:cNvSpPr/>
          <p:nvPr/>
        </p:nvSpPr>
        <p:spPr>
          <a:xfrm>
            <a:off x="457200" y="301752"/>
            <a:ext cx="310896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FOUR ACTIVATIONS</a:t>
            </a:r>
            <a:endParaRPr lang="en-US" sz="850" dirty="0"/>
          </a:p>
        </p:txBody>
      </p:sp>
      <p:sp>
        <p:nvSpPr>
          <p:cNvPr id="5" name="Text 2"/>
          <p:cNvSpPr/>
          <p:nvPr/>
        </p:nvSpPr>
        <p:spPr>
          <a:xfrm>
            <a:off x="457200" y="512064"/>
            <a:ext cx="4572000" cy="457200"/>
          </a:xfrm>
          <a:prstGeom prst="rect">
            <a:avLst/>
          </a:prstGeom>
          <a:noFill/>
          <a:ln/>
        </p:spPr>
        <p:txBody>
          <a:bodyPr wrap="square" lIns="0" tIns="0" rIns="0" bIns="0" rtlCol="0" anchor="ctr">
            <a:normAutofit/>
          </a:bodyPr>
          <a:lstStyle/>
          <a:p>
            <a:pPr algn="l" indent="0" marL="0">
              <a:buNone/>
            </a:pPr>
            <a:r>
              <a:rPr lang="en-US" sz="2600" dirty="0">
                <a:solidFill>
                  <a:srgbClr val="E4BD96"/>
                </a:solidFill>
                <a:latin typeface="Spectral" pitchFamily="34" charset="0"/>
                <a:ea typeface="Spectral" pitchFamily="34" charset="-122"/>
                <a:cs typeface="Spectral" pitchFamily="34" charset="-120"/>
              </a:rPr>
              <a:t>Four Clues</a:t>
            </a:r>
            <a:endParaRPr lang="en-US" sz="2600" dirty="0"/>
          </a:p>
        </p:txBody>
      </p:sp>
      <p:pic>
        <p:nvPicPr>
          <p:cNvPr id="6" name="Image 1" descr="The Mirrors">    </p:cNvPr>
          <p:cNvPicPr>
            <a:picLocks noChangeAspect="1"/>
          </p:cNvPicPr>
          <p:nvPr/>
        </p:nvPicPr>
        <p:blipFill>
          <a:blip r:embed="rId2"/>
          <a:srcRect l="0" r="0" t="0" b="0"/>
          <a:stretch/>
        </p:blipFill>
        <p:spPr>
          <a:xfrm>
            <a:off x="457200" y="1078992"/>
            <a:ext cx="1975104" cy="3520440"/>
          </a:xfrm>
          <a:prstGeom prst="rect">
            <a:avLst/>
          </a:prstGeom>
        </p:spPr>
      </p:pic>
      <p:sp>
        <p:nvSpPr>
          <p:cNvPr id="7" name="Shape 3"/>
          <p:cNvSpPr/>
          <p:nvPr/>
        </p:nvSpPr>
        <p:spPr>
          <a:xfrm>
            <a:off x="457200" y="1078992"/>
            <a:ext cx="1975104" cy="3520440"/>
          </a:xfrm>
          <a:prstGeom prst="rect">
            <a:avLst/>
          </a:prstGeom>
          <a:solidFill>
            <a:srgbClr val="171B1B">
              <a:alpha val="80000"/>
            </a:srgbClr>
          </a:solidFill>
          <a:ln w="12700">
            <a:solidFill>
              <a:srgbClr val="333333">
                <a:alpha val="0"/>
              </a:srgbClr>
            </a:solidFill>
            <a:prstDash val="solid"/>
          </a:ln>
        </p:spPr>
      </p:sp>
      <p:sp>
        <p:nvSpPr>
          <p:cNvPr id="8" name="Shape 4"/>
          <p:cNvSpPr/>
          <p:nvPr/>
        </p:nvSpPr>
        <p:spPr>
          <a:xfrm>
            <a:off x="457200" y="2980944"/>
            <a:ext cx="1975104" cy="1618488"/>
          </a:xfrm>
          <a:prstGeom prst="rect">
            <a:avLst/>
          </a:prstGeom>
          <a:solidFill>
            <a:srgbClr val="171B1B">
              <a:alpha val="93000"/>
            </a:srgbClr>
          </a:solidFill>
          <a:ln w="12700">
            <a:solidFill>
              <a:srgbClr val="333333">
                <a:alpha val="0"/>
              </a:srgbClr>
            </a:solidFill>
            <a:prstDash val="solid"/>
          </a:ln>
        </p:spPr>
      </p:sp>
      <p:sp>
        <p:nvSpPr>
          <p:cNvPr id="9" name="Text 5"/>
          <p:cNvSpPr/>
          <p:nvPr/>
        </p:nvSpPr>
        <p:spPr>
          <a:xfrm>
            <a:off x="621792" y="3154680"/>
            <a:ext cx="16459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DECODE</a:t>
            </a:r>
            <a:endParaRPr lang="en-US" sz="850" dirty="0"/>
          </a:p>
        </p:txBody>
      </p:sp>
      <p:sp>
        <p:nvSpPr>
          <p:cNvPr id="10" name="Text 6"/>
          <p:cNvSpPr/>
          <p:nvPr/>
        </p:nvSpPr>
        <p:spPr>
          <a:xfrm>
            <a:off x="621792" y="3438144"/>
            <a:ext cx="1645920" cy="512064"/>
          </a:xfrm>
          <a:prstGeom prst="rect">
            <a:avLst/>
          </a:prstGeom>
          <a:noFill/>
          <a:ln/>
        </p:spPr>
        <p:txBody>
          <a:bodyPr wrap="square" lIns="0" tIns="0" rIns="0" bIns="0" rtlCol="0" anchor="b">
            <a:normAutofit/>
          </a:bodyPr>
          <a:lstStyle/>
          <a:p>
            <a:pPr indent="0" marL="0">
              <a:buNone/>
            </a:pPr>
            <a:r>
              <a:rPr lang="en-US" sz="1600" b="1" dirty="0">
                <a:solidFill>
                  <a:srgbClr val="FFFFFF"/>
                </a:solidFill>
                <a:latin typeface="Spectral" pitchFamily="34" charset="0"/>
                <a:ea typeface="Spectral" pitchFamily="34" charset="-122"/>
                <a:cs typeface="Spectral" pitchFamily="34" charset="-120"/>
              </a:rPr>
              <a:t>The Mirrors</a:t>
            </a:r>
            <a:endParaRPr lang="en-US" sz="1600" dirty="0"/>
          </a:p>
        </p:txBody>
      </p:sp>
      <p:sp>
        <p:nvSpPr>
          <p:cNvPr id="11" name="Text 7"/>
          <p:cNvSpPr/>
          <p:nvPr/>
        </p:nvSpPr>
        <p:spPr>
          <a:xfrm>
            <a:off x="621792" y="4005072"/>
            <a:ext cx="1645920" cy="557784"/>
          </a:xfrm>
          <a:prstGeom prst="rect">
            <a:avLst/>
          </a:prstGeom>
          <a:noFill/>
          <a:ln/>
        </p:spPr>
        <p:txBody>
          <a:bodyPr wrap="square" lIns="0" tIns="0" rIns="0" bIns="0" rtlCol="0" anchor="t">
            <a:normAutofit/>
          </a:bodyPr>
          <a:lstStyle/>
          <a:p>
            <a:pPr indent="0" marL="0">
              <a:buNone/>
            </a:pPr>
            <a:r>
              <a:rPr lang="en-US" sz="840" dirty="0">
                <a:solidFill>
                  <a:srgbClr val="FFFFFF">
                    <a:alpha val="96000"/>
                  </a:srgbClr>
                </a:solidFill>
                <a:latin typeface="Spectral" pitchFamily="34" charset="0"/>
                <a:ea typeface="Spectral" pitchFamily="34" charset="-122"/>
                <a:cs typeface="Spectral" pitchFamily="34" charset="-120"/>
              </a:rPr>
              <a:t>Antique mirrors conceal messages and visual illusions within their reflections. Guests must determine which reflection reveals the hidden message. The message uncovers another piece of Dracula's fate.</a:t>
            </a:r>
            <a:endParaRPr lang="en-US" sz="840" dirty="0"/>
          </a:p>
        </p:txBody>
      </p:sp>
      <p:pic>
        <p:nvPicPr>
          <p:cNvPr id="12" name="Image 2" descr="The Portrait Booth">    </p:cNvPr>
          <p:cNvPicPr>
            <a:picLocks noChangeAspect="1"/>
          </p:cNvPicPr>
          <p:nvPr/>
        </p:nvPicPr>
        <p:blipFill>
          <a:blip r:embed="rId3"/>
          <a:srcRect l="0" r="0" t="0" b="0"/>
          <a:stretch/>
        </p:blipFill>
        <p:spPr>
          <a:xfrm>
            <a:off x="2542032" y="1078992"/>
            <a:ext cx="1975104" cy="3520440"/>
          </a:xfrm>
          <a:prstGeom prst="rect">
            <a:avLst/>
          </a:prstGeom>
        </p:spPr>
      </p:pic>
      <p:sp>
        <p:nvSpPr>
          <p:cNvPr id="13" name="Shape 8"/>
          <p:cNvSpPr/>
          <p:nvPr/>
        </p:nvSpPr>
        <p:spPr>
          <a:xfrm>
            <a:off x="2542032" y="1078992"/>
            <a:ext cx="1975104" cy="3520440"/>
          </a:xfrm>
          <a:prstGeom prst="rect">
            <a:avLst/>
          </a:prstGeom>
          <a:solidFill>
            <a:srgbClr val="171B1B">
              <a:alpha val="80000"/>
            </a:srgbClr>
          </a:solidFill>
          <a:ln w="12700">
            <a:solidFill>
              <a:srgbClr val="333333">
                <a:alpha val="0"/>
              </a:srgbClr>
            </a:solidFill>
            <a:prstDash val="solid"/>
          </a:ln>
        </p:spPr>
      </p:sp>
      <p:sp>
        <p:nvSpPr>
          <p:cNvPr id="14" name="Shape 9"/>
          <p:cNvSpPr/>
          <p:nvPr/>
        </p:nvSpPr>
        <p:spPr>
          <a:xfrm>
            <a:off x="2542032" y="2980944"/>
            <a:ext cx="1975104" cy="1618488"/>
          </a:xfrm>
          <a:prstGeom prst="rect">
            <a:avLst/>
          </a:prstGeom>
          <a:solidFill>
            <a:srgbClr val="171B1B">
              <a:alpha val="93000"/>
            </a:srgbClr>
          </a:solidFill>
          <a:ln w="12700">
            <a:solidFill>
              <a:srgbClr val="333333">
                <a:alpha val="0"/>
              </a:srgbClr>
            </a:solidFill>
            <a:prstDash val="solid"/>
          </a:ln>
        </p:spPr>
      </p:sp>
      <p:sp>
        <p:nvSpPr>
          <p:cNvPr id="15" name="Text 10"/>
          <p:cNvSpPr/>
          <p:nvPr/>
        </p:nvSpPr>
        <p:spPr>
          <a:xfrm>
            <a:off x="2706624" y="3154680"/>
            <a:ext cx="16459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CAPTURE</a:t>
            </a:r>
            <a:endParaRPr lang="en-US" sz="850" dirty="0"/>
          </a:p>
        </p:txBody>
      </p:sp>
      <p:sp>
        <p:nvSpPr>
          <p:cNvPr id="16" name="Text 11"/>
          <p:cNvSpPr/>
          <p:nvPr/>
        </p:nvSpPr>
        <p:spPr>
          <a:xfrm>
            <a:off x="2706624" y="3438144"/>
            <a:ext cx="1645920" cy="512064"/>
          </a:xfrm>
          <a:prstGeom prst="rect">
            <a:avLst/>
          </a:prstGeom>
          <a:noFill/>
          <a:ln/>
        </p:spPr>
        <p:txBody>
          <a:bodyPr wrap="square" lIns="0" tIns="0" rIns="0" bIns="0" rtlCol="0" anchor="b">
            <a:normAutofit/>
          </a:bodyPr>
          <a:lstStyle/>
          <a:p>
            <a:pPr indent="0" marL="0">
              <a:buNone/>
            </a:pPr>
            <a:r>
              <a:rPr lang="en-US" sz="1600" b="1" dirty="0">
                <a:solidFill>
                  <a:srgbClr val="FFFFFF"/>
                </a:solidFill>
                <a:latin typeface="Spectral" pitchFamily="34" charset="0"/>
                <a:ea typeface="Spectral" pitchFamily="34" charset="-122"/>
                <a:cs typeface="Spectral" pitchFamily="34" charset="-120"/>
              </a:rPr>
              <a:t>The Portrait Booth</a:t>
            </a:r>
            <a:endParaRPr lang="en-US" sz="1600" dirty="0"/>
          </a:p>
        </p:txBody>
      </p:sp>
      <p:sp>
        <p:nvSpPr>
          <p:cNvPr id="17" name="Text 12"/>
          <p:cNvSpPr/>
          <p:nvPr/>
        </p:nvSpPr>
        <p:spPr>
          <a:xfrm>
            <a:off x="2706624" y="4005072"/>
            <a:ext cx="1645920" cy="557784"/>
          </a:xfrm>
          <a:prstGeom prst="rect">
            <a:avLst/>
          </a:prstGeom>
          <a:noFill/>
          <a:ln/>
        </p:spPr>
        <p:txBody>
          <a:bodyPr wrap="square" lIns="0" tIns="0" rIns="0" bIns="0" rtlCol="0" anchor="t">
            <a:normAutofit/>
          </a:bodyPr>
          <a:lstStyle/>
          <a:p>
            <a:pPr indent="0" marL="0">
              <a:buNone/>
            </a:pPr>
            <a:r>
              <a:rPr lang="en-US" sz="840" dirty="0">
                <a:solidFill>
                  <a:srgbClr val="FFFFFF">
                    <a:alpha val="96000"/>
                  </a:srgbClr>
                </a:solidFill>
                <a:latin typeface="Spectral" pitchFamily="34" charset="0"/>
                <a:ea typeface="Spectral" pitchFamily="34" charset="-122"/>
                <a:cs typeface="Spectral" pitchFamily="34" charset="-120"/>
              </a:rPr>
              <a:t>Guests step inside an ornate Victorian portrait booth and become part of Dracula's world. Audio clips play as their portrait is captured. They must examine the finished portrait to uncover a hidden detail.</a:t>
            </a:r>
            <a:endParaRPr lang="en-US" sz="840" dirty="0"/>
          </a:p>
        </p:txBody>
      </p:sp>
      <p:pic>
        <p:nvPicPr>
          <p:cNvPr id="18" name="Image 3" descr="The Aura Reading">    </p:cNvPr>
          <p:cNvPicPr>
            <a:picLocks noChangeAspect="1"/>
          </p:cNvPicPr>
          <p:nvPr/>
        </p:nvPicPr>
        <p:blipFill>
          <a:blip r:embed="rId4"/>
          <a:srcRect l="0" r="0" t="0" b="0"/>
          <a:stretch/>
        </p:blipFill>
        <p:spPr>
          <a:xfrm>
            <a:off x="4626864" y="1078992"/>
            <a:ext cx="1975104" cy="3520440"/>
          </a:xfrm>
          <a:prstGeom prst="rect">
            <a:avLst/>
          </a:prstGeom>
        </p:spPr>
      </p:pic>
      <p:sp>
        <p:nvSpPr>
          <p:cNvPr id="19" name="Shape 13"/>
          <p:cNvSpPr/>
          <p:nvPr/>
        </p:nvSpPr>
        <p:spPr>
          <a:xfrm>
            <a:off x="4626864" y="1078992"/>
            <a:ext cx="1975104" cy="3520440"/>
          </a:xfrm>
          <a:prstGeom prst="rect">
            <a:avLst/>
          </a:prstGeom>
          <a:solidFill>
            <a:srgbClr val="171B1B">
              <a:alpha val="80000"/>
            </a:srgbClr>
          </a:solidFill>
          <a:ln w="12700">
            <a:solidFill>
              <a:srgbClr val="333333">
                <a:alpha val="0"/>
              </a:srgbClr>
            </a:solidFill>
            <a:prstDash val="solid"/>
          </a:ln>
        </p:spPr>
      </p:sp>
      <p:sp>
        <p:nvSpPr>
          <p:cNvPr id="20" name="Shape 14"/>
          <p:cNvSpPr/>
          <p:nvPr/>
        </p:nvSpPr>
        <p:spPr>
          <a:xfrm>
            <a:off x="4626864" y="2980944"/>
            <a:ext cx="1975104" cy="1618488"/>
          </a:xfrm>
          <a:prstGeom prst="rect">
            <a:avLst/>
          </a:prstGeom>
          <a:solidFill>
            <a:srgbClr val="171B1B">
              <a:alpha val="93000"/>
            </a:srgbClr>
          </a:solidFill>
          <a:ln w="12700">
            <a:solidFill>
              <a:srgbClr val="333333">
                <a:alpha val="0"/>
              </a:srgbClr>
            </a:solidFill>
            <a:prstDash val="solid"/>
          </a:ln>
        </p:spPr>
      </p:sp>
      <p:sp>
        <p:nvSpPr>
          <p:cNvPr id="21" name="Text 15"/>
          <p:cNvSpPr/>
          <p:nvPr/>
        </p:nvSpPr>
        <p:spPr>
          <a:xfrm>
            <a:off x="4791456" y="3154680"/>
            <a:ext cx="16459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DIVINE</a:t>
            </a:r>
            <a:endParaRPr lang="en-US" sz="850" dirty="0"/>
          </a:p>
        </p:txBody>
      </p:sp>
      <p:sp>
        <p:nvSpPr>
          <p:cNvPr id="22" name="Text 16"/>
          <p:cNvSpPr/>
          <p:nvPr/>
        </p:nvSpPr>
        <p:spPr>
          <a:xfrm>
            <a:off x="4791456" y="3438144"/>
            <a:ext cx="1645920" cy="512064"/>
          </a:xfrm>
          <a:prstGeom prst="rect">
            <a:avLst/>
          </a:prstGeom>
          <a:noFill/>
          <a:ln/>
        </p:spPr>
        <p:txBody>
          <a:bodyPr wrap="square" lIns="0" tIns="0" rIns="0" bIns="0" rtlCol="0" anchor="b">
            <a:normAutofit/>
          </a:bodyPr>
          <a:lstStyle/>
          <a:p>
            <a:pPr indent="0" marL="0">
              <a:buNone/>
            </a:pPr>
            <a:r>
              <a:rPr lang="en-US" sz="1600" b="1" dirty="0">
                <a:solidFill>
                  <a:srgbClr val="FFFFFF"/>
                </a:solidFill>
                <a:latin typeface="Spectral" pitchFamily="34" charset="0"/>
                <a:ea typeface="Spectral" pitchFamily="34" charset="-122"/>
                <a:cs typeface="Spectral" pitchFamily="34" charset="-120"/>
              </a:rPr>
              <a:t>The Aura Reading</a:t>
            </a:r>
            <a:endParaRPr lang="en-US" sz="1600" dirty="0"/>
          </a:p>
        </p:txBody>
      </p:sp>
      <p:sp>
        <p:nvSpPr>
          <p:cNvPr id="23" name="Text 17"/>
          <p:cNvSpPr/>
          <p:nvPr/>
        </p:nvSpPr>
        <p:spPr>
          <a:xfrm>
            <a:off x="4791456" y="4005072"/>
            <a:ext cx="1645920" cy="557784"/>
          </a:xfrm>
          <a:prstGeom prst="rect">
            <a:avLst/>
          </a:prstGeom>
          <a:noFill/>
          <a:ln/>
        </p:spPr>
        <p:txBody>
          <a:bodyPr wrap="square" lIns="0" tIns="0" rIns="0" bIns="0" rtlCol="0" anchor="t">
            <a:normAutofit/>
          </a:bodyPr>
          <a:lstStyle/>
          <a:p>
            <a:pPr indent="0" marL="0">
              <a:buNone/>
            </a:pPr>
            <a:r>
              <a:rPr lang="en-US" sz="840" dirty="0">
                <a:solidFill>
                  <a:srgbClr val="FFFFFF">
                    <a:alpha val="96000"/>
                  </a:srgbClr>
                </a:solidFill>
                <a:latin typeface="Spectral" pitchFamily="34" charset="0"/>
                <a:ea typeface="Spectral" pitchFamily="34" charset="-122"/>
                <a:cs typeface="Spectral" pitchFamily="34" charset="-120"/>
              </a:rPr>
              <a:t>A dramatic aura reading captures the energy Dracula would see in you. Your aura reveals your fate: resistant to his influence, or dangerously easy to lure in. Guests leave with an aura portrait and personalized reading.</a:t>
            </a:r>
            <a:endParaRPr lang="en-US" sz="840" dirty="0"/>
          </a:p>
        </p:txBody>
      </p:sp>
      <p:pic>
        <p:nvPicPr>
          <p:cNvPr id="24" name="Image 4" descr="Dracula's Library">    </p:cNvPr>
          <p:cNvPicPr>
            <a:picLocks noChangeAspect="1"/>
          </p:cNvPicPr>
          <p:nvPr/>
        </p:nvPicPr>
        <p:blipFill>
          <a:blip r:embed="rId5"/>
          <a:srcRect l="0" r="0" t="0" b="0"/>
          <a:stretch/>
        </p:blipFill>
        <p:spPr>
          <a:xfrm>
            <a:off x="6711696" y="1078992"/>
            <a:ext cx="1975104" cy="3520440"/>
          </a:xfrm>
          <a:prstGeom prst="rect">
            <a:avLst/>
          </a:prstGeom>
        </p:spPr>
      </p:pic>
      <p:sp>
        <p:nvSpPr>
          <p:cNvPr id="25" name="Shape 18"/>
          <p:cNvSpPr/>
          <p:nvPr/>
        </p:nvSpPr>
        <p:spPr>
          <a:xfrm>
            <a:off x="6711696" y="1078992"/>
            <a:ext cx="1975104" cy="3520440"/>
          </a:xfrm>
          <a:prstGeom prst="rect">
            <a:avLst/>
          </a:prstGeom>
          <a:solidFill>
            <a:srgbClr val="171B1B">
              <a:alpha val="80000"/>
            </a:srgbClr>
          </a:solidFill>
          <a:ln w="12700">
            <a:solidFill>
              <a:srgbClr val="333333">
                <a:alpha val="0"/>
              </a:srgbClr>
            </a:solidFill>
            <a:prstDash val="solid"/>
          </a:ln>
        </p:spPr>
      </p:sp>
      <p:sp>
        <p:nvSpPr>
          <p:cNvPr id="26" name="Shape 19"/>
          <p:cNvSpPr/>
          <p:nvPr/>
        </p:nvSpPr>
        <p:spPr>
          <a:xfrm>
            <a:off x="6711696" y="2980944"/>
            <a:ext cx="1975104" cy="1618488"/>
          </a:xfrm>
          <a:prstGeom prst="rect">
            <a:avLst/>
          </a:prstGeom>
          <a:solidFill>
            <a:srgbClr val="171B1B">
              <a:alpha val="93000"/>
            </a:srgbClr>
          </a:solidFill>
          <a:ln w="12700">
            <a:solidFill>
              <a:srgbClr val="333333">
                <a:alpha val="0"/>
              </a:srgbClr>
            </a:solidFill>
            <a:prstDash val="solid"/>
          </a:ln>
        </p:spPr>
      </p:sp>
      <p:sp>
        <p:nvSpPr>
          <p:cNvPr id="27" name="Text 20"/>
          <p:cNvSpPr/>
          <p:nvPr/>
        </p:nvSpPr>
        <p:spPr>
          <a:xfrm>
            <a:off x="6876288" y="3154680"/>
            <a:ext cx="16459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LISTEN</a:t>
            </a:r>
            <a:endParaRPr lang="en-US" sz="850" dirty="0"/>
          </a:p>
        </p:txBody>
      </p:sp>
      <p:sp>
        <p:nvSpPr>
          <p:cNvPr id="28" name="Text 21"/>
          <p:cNvSpPr/>
          <p:nvPr/>
        </p:nvSpPr>
        <p:spPr>
          <a:xfrm>
            <a:off x="6876288" y="3438144"/>
            <a:ext cx="1645920" cy="512064"/>
          </a:xfrm>
          <a:prstGeom prst="rect">
            <a:avLst/>
          </a:prstGeom>
          <a:noFill/>
          <a:ln/>
        </p:spPr>
        <p:txBody>
          <a:bodyPr wrap="square" lIns="0" tIns="0" rIns="0" bIns="0" rtlCol="0" anchor="b">
            <a:normAutofit/>
          </a:bodyPr>
          <a:lstStyle/>
          <a:p>
            <a:pPr indent="0" marL="0">
              <a:buNone/>
            </a:pPr>
            <a:r>
              <a:rPr lang="en-US" sz="1600" b="1" dirty="0">
                <a:solidFill>
                  <a:srgbClr val="FFFFFF"/>
                </a:solidFill>
                <a:latin typeface="Spectral" pitchFamily="34" charset="0"/>
                <a:ea typeface="Spectral" pitchFamily="34" charset="-122"/>
                <a:cs typeface="Spectral" pitchFamily="34" charset="-120"/>
              </a:rPr>
              <a:t>Dracula's Library</a:t>
            </a:r>
            <a:endParaRPr lang="en-US" sz="1600" dirty="0"/>
          </a:p>
        </p:txBody>
      </p:sp>
      <p:sp>
        <p:nvSpPr>
          <p:cNvPr id="29" name="Text 22"/>
          <p:cNvSpPr/>
          <p:nvPr/>
        </p:nvSpPr>
        <p:spPr>
          <a:xfrm>
            <a:off x="6876288" y="4005072"/>
            <a:ext cx="1645920" cy="557784"/>
          </a:xfrm>
          <a:prstGeom prst="rect">
            <a:avLst/>
          </a:prstGeom>
          <a:noFill/>
          <a:ln/>
        </p:spPr>
        <p:txBody>
          <a:bodyPr wrap="square" lIns="0" tIns="0" rIns="0" bIns="0" rtlCol="0" anchor="t">
            <a:normAutofit/>
          </a:bodyPr>
          <a:lstStyle/>
          <a:p>
            <a:pPr indent="0" marL="0">
              <a:buNone/>
            </a:pPr>
            <a:r>
              <a:rPr lang="en-US" sz="840" dirty="0">
                <a:solidFill>
                  <a:srgbClr val="FFFFFF">
                    <a:alpha val="96000"/>
                  </a:srgbClr>
                </a:solidFill>
                <a:latin typeface="Spectral" pitchFamily="34" charset="0"/>
                <a:ea typeface="Spectral" pitchFamily="34" charset="-122"/>
                <a:cs typeface="Spectral" pitchFamily="34" charset="-120"/>
              </a:rPr>
              <a:t>Guests search Dracula's library for books that unlock immersive audio. Integrated speakers create intimate listening moments. Guests must listen closely to uncover the clue hidden within.</a:t>
            </a:r>
            <a:endParaRPr lang="en-US" sz="8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68000"/>
            </a:srgbClr>
          </a:solidFill>
          <a:ln w="12700">
            <a:solidFill>
              <a:srgbClr val="333333">
                <a:alpha val="0"/>
              </a:srgbClr>
            </a:solidFill>
            <a:prstDash val="solid"/>
          </a:ln>
        </p:spPr>
      </p:sp>
      <p:sp>
        <p:nvSpPr>
          <p:cNvPr id="4" name="Text 1"/>
          <p:cNvSpPr/>
          <p:nvPr/>
        </p:nvSpPr>
        <p:spPr>
          <a:xfrm>
            <a:off x="731520" y="685800"/>
            <a:ext cx="34747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COMPLETION</a:t>
            </a:r>
            <a:endParaRPr lang="en-US" sz="850" dirty="0"/>
          </a:p>
        </p:txBody>
      </p:sp>
      <p:sp>
        <p:nvSpPr>
          <p:cNvPr id="5" name="Text 2"/>
          <p:cNvSpPr/>
          <p:nvPr/>
        </p:nvSpPr>
        <p:spPr>
          <a:xfrm>
            <a:off x="731520" y="941832"/>
            <a:ext cx="4023360" cy="960120"/>
          </a:xfrm>
          <a:prstGeom prst="rect">
            <a:avLst/>
          </a:prstGeom>
          <a:noFill/>
          <a:ln/>
        </p:spPr>
        <p:txBody>
          <a:bodyPr wrap="square" lIns="0" tIns="0" rIns="0" bIns="0" rtlCol="0" anchor="ctr">
            <a:normAutofit/>
          </a:bodyPr>
          <a:lstStyle/>
          <a:p>
            <a:pPr algn="l" indent="0" marL="0">
              <a:buNone/>
            </a:pPr>
            <a:r>
              <a:rPr lang="en-US" sz="3300" dirty="0">
                <a:solidFill>
                  <a:srgbClr val="E4BD96"/>
                </a:solidFill>
                <a:latin typeface="Spectral" pitchFamily="34" charset="0"/>
                <a:ea typeface="Spectral" pitchFamily="34" charset="-122"/>
                <a:cs typeface="Spectral" pitchFamily="34" charset="-120"/>
              </a:rPr>
              <a:t>Four Clues. One Revelation.</a:t>
            </a:r>
            <a:endParaRPr lang="en-US" sz="3300" dirty="0"/>
          </a:p>
        </p:txBody>
      </p:sp>
      <p:sp>
        <p:nvSpPr>
          <p:cNvPr id="6" name="Text 3"/>
          <p:cNvSpPr/>
          <p:nvPr/>
        </p:nvSpPr>
        <p:spPr>
          <a:xfrm>
            <a:off x="1325880" y="2331720"/>
            <a:ext cx="6492240" cy="1463040"/>
          </a:xfrm>
          <a:prstGeom prst="rect">
            <a:avLst/>
          </a:prstGeom>
          <a:noFill/>
          <a:ln/>
        </p:spPr>
        <p:txBody>
          <a:bodyPr wrap="square" lIns="0" tIns="0" rIns="0" bIns="0" rtlCol="0" anchor="t">
            <a:normAutofit/>
          </a:bodyPr>
          <a:lstStyle/>
          <a:p>
            <a:pPr algn="ctr" indent="0" marL="0">
              <a:spcAft>
                <a:spcPts val="900"/>
              </a:spcAft>
              <a:buNone/>
            </a:pPr>
            <a:r>
              <a:rPr lang="en-US" sz="1500" dirty="0">
                <a:solidFill>
                  <a:srgbClr val="E4BD96">
                    <a:alpha val="90000"/>
                  </a:srgbClr>
                </a:solidFill>
                <a:latin typeface="Spectral" pitchFamily="34" charset="0"/>
                <a:ea typeface="Spectral" pitchFamily="34" charset="-122"/>
                <a:cs typeface="Spectral" pitchFamily="34" charset="-120"/>
              </a:rPr>
              <a:t>In order to receive the final clue of the evening, guests must complete the</a:t>
            </a:r>
            <a:endParaRPr lang="en-US" sz="1500" dirty="0"/>
          </a:p>
          <a:p>
            <a:pPr algn="ctr" indent="0" marL="0">
              <a:spcAft>
                <a:spcPts val="900"/>
              </a:spcAft>
              <a:buNone/>
            </a:pPr>
            <a:r>
              <a:rPr lang="en-US" sz="1500" dirty="0">
                <a:solidFill>
                  <a:srgbClr val="E4BD96">
                    <a:alpha val="90000"/>
                  </a:srgbClr>
                </a:solidFill>
                <a:latin typeface="Spectral" pitchFamily="34" charset="0"/>
                <a:ea typeface="Spectral" pitchFamily="34" charset="-122"/>
                <a:cs typeface="Spectral" pitchFamily="34" charset="-120"/>
              </a:rPr>
              <a:t>four Dracula experiences and receive their associated Audible stamps. Upon</a:t>
            </a:r>
            <a:endParaRPr lang="en-US" sz="1500" dirty="0"/>
          </a:p>
          <a:p>
            <a:pPr algn="ctr" indent="0" marL="0">
              <a:spcAft>
                <a:spcPts val="900"/>
              </a:spcAft>
              <a:buNone/>
            </a:pPr>
            <a:r>
              <a:rPr lang="en-US" sz="1500" dirty="0">
                <a:solidFill>
                  <a:srgbClr val="E4BD96">
                    <a:alpha val="90000"/>
                  </a:srgbClr>
                </a:solidFill>
                <a:latin typeface="Spectral" pitchFamily="34" charset="0"/>
                <a:ea typeface="Spectral" pitchFamily="34" charset="-122"/>
                <a:cs typeface="Spectral" pitchFamily="34" charset="-120"/>
              </a:rPr>
              <a:t>completion, guests display their stamped map and receive the final revelation.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The Reveal">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80000"/>
            </a:srgbClr>
          </a:solidFill>
          <a:ln w="12700">
            <a:solidFill>
              <a:srgbClr val="333333">
                <a:alpha val="0"/>
              </a:srgbClr>
            </a:solidFill>
            <a:prstDash val="solid"/>
          </a:ln>
        </p:spPr>
      </p:sp>
      <p:sp>
        <p:nvSpPr>
          <p:cNvPr id="4" name="Shape 1"/>
          <p:cNvSpPr/>
          <p:nvPr/>
        </p:nvSpPr>
        <p:spPr>
          <a:xfrm>
            <a:off x="0" y="2971800"/>
            <a:ext cx="9144000" cy="2171700"/>
          </a:xfrm>
          <a:prstGeom prst="rect">
            <a:avLst/>
          </a:prstGeom>
          <a:solidFill>
            <a:srgbClr val="171B1B">
              <a:alpha val="92000"/>
            </a:srgbClr>
          </a:solidFill>
          <a:ln w="12700">
            <a:solidFill>
              <a:srgbClr val="333333">
                <a:alpha val="0"/>
              </a:srgbClr>
            </a:solidFill>
            <a:prstDash val="solid"/>
          </a:ln>
        </p:spPr>
      </p:sp>
      <p:sp>
        <p:nvSpPr>
          <p:cNvPr id="5" name="Text 2"/>
          <p:cNvSpPr/>
          <p:nvPr/>
        </p:nvSpPr>
        <p:spPr>
          <a:xfrm>
            <a:off x="594360" y="3456432"/>
            <a:ext cx="438912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THE MIDNIGHT REVELATION</a:t>
            </a:r>
            <a:endParaRPr lang="en-US" sz="850" dirty="0"/>
          </a:p>
        </p:txBody>
      </p:sp>
      <p:sp>
        <p:nvSpPr>
          <p:cNvPr id="6" name="Text 3"/>
          <p:cNvSpPr/>
          <p:nvPr/>
        </p:nvSpPr>
        <p:spPr>
          <a:xfrm>
            <a:off x="594360" y="3703320"/>
            <a:ext cx="4480560" cy="566928"/>
          </a:xfrm>
          <a:prstGeom prst="rect">
            <a:avLst/>
          </a:prstGeom>
          <a:noFill/>
          <a:ln/>
        </p:spPr>
        <p:txBody>
          <a:bodyPr wrap="square" lIns="0" tIns="0" rIns="0" bIns="0" rtlCol="0" anchor="ctr">
            <a:normAutofit/>
          </a:bodyPr>
          <a:lstStyle/>
          <a:p>
            <a:pPr algn="l" indent="0" marL="0">
              <a:buNone/>
            </a:pPr>
            <a:r>
              <a:rPr lang="en-US" sz="2800" dirty="0">
                <a:solidFill>
                  <a:srgbClr val="E4BD96"/>
                </a:solidFill>
                <a:latin typeface="Spectral" pitchFamily="34" charset="0"/>
                <a:ea typeface="Spectral" pitchFamily="34" charset="-122"/>
                <a:cs typeface="Spectral" pitchFamily="34" charset="-120"/>
              </a:rPr>
              <a:t>The Reveal</a:t>
            </a:r>
            <a:endParaRPr lang="en-US" sz="2800" dirty="0"/>
          </a:p>
        </p:txBody>
      </p:sp>
      <p:sp>
        <p:nvSpPr>
          <p:cNvPr id="7" name="Text 4"/>
          <p:cNvSpPr/>
          <p:nvPr/>
        </p:nvSpPr>
        <p:spPr>
          <a:xfrm>
            <a:off x="5349240" y="3246120"/>
            <a:ext cx="3200400" cy="1417320"/>
          </a:xfrm>
          <a:prstGeom prst="rect">
            <a:avLst/>
          </a:prstGeom>
          <a:noFill/>
          <a:ln/>
        </p:spPr>
        <p:txBody>
          <a:bodyPr wrap="square" lIns="0" tIns="0" rIns="0" bIns="0" rtlCol="0" anchor="t">
            <a:normAutofit/>
          </a:bodyPr>
          <a:lstStyle/>
          <a:p>
            <a:pPr algn="l" indent="0" marL="0">
              <a:spcAft>
                <a:spcPts val="900"/>
              </a:spcAft>
              <a:buNone/>
            </a:pPr>
            <a:r>
              <a:rPr lang="en-US" sz="880" dirty="0">
                <a:solidFill>
                  <a:srgbClr val="E4BD96">
                    <a:alpha val="90000"/>
                  </a:srgbClr>
                </a:solidFill>
                <a:latin typeface="Spectral" pitchFamily="34" charset="0"/>
                <a:ea typeface="Spectral" pitchFamily="34" charset="-122"/>
                <a:cs typeface="Spectral" pitchFamily="34" charset="-120"/>
              </a:rPr>
              <a:t>With all four tasks complete and their final stamp secured, guests unlock The Midnight Revelation: an ornate handheld mirror created exclusively for the evening.</a:t>
            </a:r>
            <a:endParaRPr lang="en-US" sz="880" dirty="0"/>
          </a:p>
          <a:p>
            <a:pPr algn="l" indent="0" marL="0">
              <a:spcAft>
                <a:spcPts val="900"/>
              </a:spcAft>
              <a:buNone/>
            </a:pPr>
            <a:endParaRPr lang="en-US" sz="880" dirty="0"/>
          </a:p>
          <a:p>
            <a:pPr algn="l" indent="0" marL="0">
              <a:spcAft>
                <a:spcPts val="900"/>
              </a:spcAft>
              <a:buNone/>
            </a:pPr>
            <a:r>
              <a:rPr lang="en-US" sz="880" dirty="0">
                <a:solidFill>
                  <a:srgbClr val="E4BD96">
                    <a:alpha val="90000"/>
                  </a:srgbClr>
                </a:solidFill>
                <a:latin typeface="Spectral" pitchFamily="34" charset="0"/>
                <a:ea typeface="Spectral" pitchFamily="34" charset="-122"/>
                <a:cs typeface="Spectral" pitchFamily="34" charset="-120"/>
              </a:rPr>
              <a:t>Hidden within the reflection is one final message: "Not everything can be seen. Some things must be heard." A discreet QR leads guests to Audible, where they can listen to uncover Dracula's ending for themselves.</a:t>
            </a:r>
            <a:endParaRPr lang="en-US" sz="8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One if by Land, Two if by Sea dining room">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85000"/>
            </a:srgbClr>
          </a:solidFill>
          <a:ln w="12700">
            <a:solidFill>
              <a:srgbClr val="333333">
                <a:alpha val="0"/>
              </a:srgbClr>
            </a:solidFill>
            <a:prstDash val="solid"/>
          </a:ln>
        </p:spPr>
      </p:sp>
      <p:sp>
        <p:nvSpPr>
          <p:cNvPr id="4" name="Shape 1"/>
          <p:cNvSpPr/>
          <p:nvPr/>
        </p:nvSpPr>
        <p:spPr>
          <a:xfrm>
            <a:off x="4434840" y="0"/>
            <a:ext cx="4709160" cy="5143500"/>
          </a:xfrm>
          <a:prstGeom prst="rect">
            <a:avLst/>
          </a:prstGeom>
          <a:solidFill>
            <a:srgbClr val="171B1B">
              <a:alpha val="95000"/>
            </a:srgbClr>
          </a:solidFill>
          <a:ln w="12700">
            <a:solidFill>
              <a:srgbClr val="333333">
                <a:alpha val="0"/>
              </a:srgbClr>
            </a:solidFill>
            <a:prstDash val="solid"/>
          </a:ln>
        </p:spPr>
      </p:sp>
      <p:sp>
        <p:nvSpPr>
          <p:cNvPr id="5" name="Text 2"/>
          <p:cNvSpPr/>
          <p:nvPr/>
        </p:nvSpPr>
        <p:spPr>
          <a:xfrm>
            <a:off x="4754880" y="438912"/>
            <a:ext cx="374904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VENUE - CONFIRMED</a:t>
            </a:r>
            <a:endParaRPr lang="en-US" sz="850" dirty="0"/>
          </a:p>
        </p:txBody>
      </p:sp>
      <p:sp>
        <p:nvSpPr>
          <p:cNvPr id="6" name="Text 3"/>
          <p:cNvSpPr/>
          <p:nvPr/>
        </p:nvSpPr>
        <p:spPr>
          <a:xfrm>
            <a:off x="4754880" y="658368"/>
            <a:ext cx="3794760" cy="749808"/>
          </a:xfrm>
          <a:prstGeom prst="rect">
            <a:avLst/>
          </a:prstGeom>
          <a:noFill/>
          <a:ln/>
        </p:spPr>
        <p:txBody>
          <a:bodyPr wrap="square" lIns="0" tIns="0" rIns="0" bIns="0" rtlCol="0" anchor="ctr">
            <a:normAutofit/>
          </a:bodyPr>
          <a:lstStyle/>
          <a:p>
            <a:pPr algn="l" indent="0" marL="0">
              <a:buNone/>
            </a:pPr>
            <a:r>
              <a:rPr lang="en-US" sz="2800" dirty="0">
                <a:solidFill>
                  <a:srgbClr val="E4BD96"/>
                </a:solidFill>
                <a:latin typeface="Spectral" pitchFamily="34" charset="0"/>
                <a:ea typeface="Spectral" pitchFamily="34" charset="-122"/>
                <a:cs typeface="Spectral" pitchFamily="34" charset="-120"/>
              </a:rPr>
              <a:t>One if by Land, Two if by Sea</a:t>
            </a:r>
            <a:endParaRPr lang="en-US" sz="2800" dirty="0"/>
          </a:p>
        </p:txBody>
      </p:sp>
      <p:sp>
        <p:nvSpPr>
          <p:cNvPr id="7" name="Text 4"/>
          <p:cNvSpPr/>
          <p:nvPr/>
        </p:nvSpPr>
        <p:spPr>
          <a:xfrm>
            <a:off x="4754880" y="1499616"/>
            <a:ext cx="374904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17 BARROW ST, NEW YORK, NY 10014</a:t>
            </a:r>
            <a:endParaRPr lang="en-US" sz="850" dirty="0"/>
          </a:p>
        </p:txBody>
      </p:sp>
      <p:sp>
        <p:nvSpPr>
          <p:cNvPr id="8" name="Text 5"/>
          <p:cNvSpPr/>
          <p:nvPr/>
        </p:nvSpPr>
        <p:spPr>
          <a:xfrm>
            <a:off x="4754880" y="1847088"/>
            <a:ext cx="3703320" cy="1115568"/>
          </a:xfrm>
          <a:prstGeom prst="rect">
            <a:avLst/>
          </a:prstGeom>
          <a:noFill/>
          <a:ln/>
        </p:spPr>
        <p:txBody>
          <a:bodyPr wrap="square" lIns="0" tIns="0" rIns="0" bIns="0" rtlCol="0" anchor="t">
            <a:normAutofit/>
          </a:bodyPr>
          <a:lstStyle/>
          <a:p>
            <a:pPr algn="l" indent="0" marL="0">
              <a:spcAft>
                <a:spcPts val="900"/>
              </a:spcAft>
              <a:buNone/>
            </a:pPr>
            <a:r>
              <a:rPr lang="en-US" sz="1150" dirty="0">
                <a:solidFill>
                  <a:srgbClr val="E4BD96">
                    <a:alpha val="90000"/>
                  </a:srgbClr>
                </a:solidFill>
                <a:latin typeface="Spectral" pitchFamily="34" charset="0"/>
                <a:ea typeface="Spectral" pitchFamily="34" charset="-122"/>
                <a:cs typeface="Spectral" pitchFamily="34" charset="-120"/>
              </a:rPr>
              <a:t>Landmarked 1767 carriage house, formerly Aaron Burr's. Recognized for its classic menu, long history, and beautiful decor - often cited as the most romantic restaurant in New York City, and its old world touches fit the bill for Dracula.</a:t>
            </a:r>
            <a:endParaRPr lang="en-US" sz="1150" dirty="0"/>
          </a:p>
        </p:txBody>
      </p:sp>
      <p:sp>
        <p:nvSpPr>
          <p:cNvPr id="9" name="Shape 6"/>
          <p:cNvSpPr/>
          <p:nvPr/>
        </p:nvSpPr>
        <p:spPr>
          <a:xfrm>
            <a:off x="4754880" y="3044952"/>
            <a:ext cx="3675888" cy="0"/>
          </a:xfrm>
          <a:prstGeom prst="line">
            <a:avLst/>
          </a:prstGeom>
          <a:noFill/>
          <a:ln w="6350">
            <a:solidFill>
              <a:srgbClr val="E4BD96">
                <a:alpha val="18000"/>
              </a:srgbClr>
            </a:solidFill>
            <a:prstDash val="solid"/>
          </a:ln>
        </p:spPr>
      </p:sp>
      <p:sp>
        <p:nvSpPr>
          <p:cNvPr id="10" name="Text 7"/>
          <p:cNvSpPr/>
          <p:nvPr/>
        </p:nvSpPr>
        <p:spPr>
          <a:xfrm>
            <a:off x="4754880" y="3108960"/>
            <a:ext cx="3675888" cy="146304"/>
          </a:xfrm>
          <a:prstGeom prst="rect">
            <a:avLst/>
          </a:prstGeom>
          <a:noFill/>
          <a:ln/>
        </p:spPr>
        <p:txBody>
          <a:bodyPr wrap="square" lIns="0" tIns="0" rIns="0" bIns="0" rtlCol="0" anchor="ctr">
            <a:normAutofit/>
          </a:bodyPr>
          <a:lstStyle/>
          <a:p>
            <a:pPr indent="0" marL="0">
              <a:buNone/>
            </a:pPr>
            <a:r>
              <a:rPr lang="en-US" sz="750" spc="140" kern="0" dirty="0">
                <a:solidFill>
                  <a:srgbClr val="B6875B"/>
                </a:solidFill>
                <a:latin typeface="Spectral" pitchFamily="34" charset="0"/>
                <a:ea typeface="Spectral" pitchFamily="34" charset="-122"/>
                <a:cs typeface="Spectral" pitchFamily="34" charset="-120"/>
              </a:rPr>
              <a:t>130 SEATED</a:t>
            </a:r>
            <a:endParaRPr lang="en-US" sz="750" dirty="0"/>
          </a:p>
        </p:txBody>
      </p:sp>
      <p:sp>
        <p:nvSpPr>
          <p:cNvPr id="11" name="Shape 8"/>
          <p:cNvSpPr/>
          <p:nvPr/>
        </p:nvSpPr>
        <p:spPr>
          <a:xfrm>
            <a:off x="4754880" y="3328416"/>
            <a:ext cx="3675888" cy="0"/>
          </a:xfrm>
          <a:prstGeom prst="line">
            <a:avLst/>
          </a:prstGeom>
          <a:noFill/>
          <a:ln w="6350">
            <a:solidFill>
              <a:srgbClr val="E4BD96">
                <a:alpha val="18000"/>
              </a:srgbClr>
            </a:solidFill>
            <a:prstDash val="solid"/>
          </a:ln>
        </p:spPr>
      </p:sp>
      <p:sp>
        <p:nvSpPr>
          <p:cNvPr id="12" name="Text 9"/>
          <p:cNvSpPr/>
          <p:nvPr/>
        </p:nvSpPr>
        <p:spPr>
          <a:xfrm>
            <a:off x="4754880" y="3392424"/>
            <a:ext cx="3675888" cy="146304"/>
          </a:xfrm>
          <a:prstGeom prst="rect">
            <a:avLst/>
          </a:prstGeom>
          <a:noFill/>
          <a:ln/>
        </p:spPr>
        <p:txBody>
          <a:bodyPr wrap="square" lIns="0" tIns="0" rIns="0" bIns="0" rtlCol="0" anchor="ctr">
            <a:normAutofit/>
          </a:bodyPr>
          <a:lstStyle/>
          <a:p>
            <a:pPr indent="0" marL="0">
              <a:buNone/>
            </a:pPr>
            <a:r>
              <a:rPr lang="en-US" sz="750" spc="140" kern="0" dirty="0">
                <a:solidFill>
                  <a:srgbClr val="B6875B"/>
                </a:solidFill>
                <a:latin typeface="Spectral" pitchFamily="34" charset="0"/>
                <a:ea typeface="Spectral" pitchFamily="34" charset="-122"/>
                <a:cs typeface="Spectral" pitchFamily="34" charset="-120"/>
              </a:rPr>
              <a:t>200 COCKTAIL</a:t>
            </a:r>
            <a:endParaRPr lang="en-US" sz="750" dirty="0"/>
          </a:p>
        </p:txBody>
      </p:sp>
      <p:sp>
        <p:nvSpPr>
          <p:cNvPr id="13" name="Shape 10"/>
          <p:cNvSpPr/>
          <p:nvPr/>
        </p:nvSpPr>
        <p:spPr>
          <a:xfrm>
            <a:off x="4754880" y="3611880"/>
            <a:ext cx="3675888" cy="0"/>
          </a:xfrm>
          <a:prstGeom prst="line">
            <a:avLst/>
          </a:prstGeom>
          <a:noFill/>
          <a:ln w="6350">
            <a:solidFill>
              <a:srgbClr val="E4BD96">
                <a:alpha val="18000"/>
              </a:srgbClr>
            </a:solidFill>
            <a:prstDash val="solid"/>
          </a:ln>
        </p:spPr>
      </p:sp>
      <p:sp>
        <p:nvSpPr>
          <p:cNvPr id="14" name="Text 11"/>
          <p:cNvSpPr/>
          <p:nvPr/>
        </p:nvSpPr>
        <p:spPr>
          <a:xfrm>
            <a:off x="4754880" y="3675888"/>
            <a:ext cx="3675888" cy="146304"/>
          </a:xfrm>
          <a:prstGeom prst="rect">
            <a:avLst/>
          </a:prstGeom>
          <a:noFill/>
          <a:ln/>
        </p:spPr>
        <p:txBody>
          <a:bodyPr wrap="square" lIns="0" tIns="0" rIns="0" bIns="0" rtlCol="0" anchor="ctr">
            <a:normAutofit/>
          </a:bodyPr>
          <a:lstStyle/>
          <a:p>
            <a:pPr indent="0" marL="0">
              <a:buNone/>
            </a:pPr>
            <a:r>
              <a:rPr lang="en-US" sz="750" spc="140" kern="0" dirty="0">
                <a:solidFill>
                  <a:srgbClr val="B6875B"/>
                </a:solidFill>
                <a:latin typeface="Spectral" pitchFamily="34" charset="0"/>
                <a:ea typeface="Spectral" pitchFamily="34" charset="-122"/>
                <a:cs typeface="Spectral" pitchFamily="34" charset="-120"/>
              </a:rPr>
              <a:t>3 ROOMS, PIPED SOUND</a:t>
            </a:r>
            <a:endParaRPr lang="en-US" sz="750" dirty="0"/>
          </a:p>
        </p:txBody>
      </p:sp>
      <p:sp>
        <p:nvSpPr>
          <p:cNvPr id="15" name="Shape 12"/>
          <p:cNvSpPr/>
          <p:nvPr/>
        </p:nvSpPr>
        <p:spPr>
          <a:xfrm>
            <a:off x="4754880" y="3895344"/>
            <a:ext cx="3675888" cy="0"/>
          </a:xfrm>
          <a:prstGeom prst="line">
            <a:avLst/>
          </a:prstGeom>
          <a:noFill/>
          <a:ln w="6350">
            <a:solidFill>
              <a:srgbClr val="E4BD96">
                <a:alpha val="18000"/>
              </a:srgbClr>
            </a:solidFill>
            <a:prstDash val="solid"/>
          </a:ln>
        </p:spPr>
      </p:sp>
      <p:sp>
        <p:nvSpPr>
          <p:cNvPr id="16" name="Text 13"/>
          <p:cNvSpPr/>
          <p:nvPr/>
        </p:nvSpPr>
        <p:spPr>
          <a:xfrm>
            <a:off x="4754880" y="3959352"/>
            <a:ext cx="3675888" cy="146304"/>
          </a:xfrm>
          <a:prstGeom prst="rect">
            <a:avLst/>
          </a:prstGeom>
          <a:noFill/>
          <a:ln/>
        </p:spPr>
        <p:txBody>
          <a:bodyPr wrap="square" lIns="0" tIns="0" rIns="0" bIns="0" rtlCol="0" anchor="ctr">
            <a:normAutofit/>
          </a:bodyPr>
          <a:lstStyle/>
          <a:p>
            <a:pPr indent="0" marL="0">
              <a:buNone/>
            </a:pPr>
            <a:r>
              <a:rPr lang="en-US" sz="750" spc="140" kern="0" dirty="0">
                <a:solidFill>
                  <a:srgbClr val="B6875B"/>
                </a:solidFill>
                <a:latin typeface="Spectral" pitchFamily="34" charset="0"/>
                <a:ea typeface="Spectral" pitchFamily="34" charset="-122"/>
                <a:cs typeface="Spectral" pitchFamily="34" charset="-120"/>
              </a:rPr>
              <a:t>PRIVATE GARDEN</a:t>
            </a:r>
            <a:endParaRPr lang="en-US" sz="750" dirty="0"/>
          </a:p>
        </p:txBody>
      </p:sp>
      <p:sp>
        <p:nvSpPr>
          <p:cNvPr id="17" name="Shape 14"/>
          <p:cNvSpPr/>
          <p:nvPr/>
        </p:nvSpPr>
        <p:spPr>
          <a:xfrm>
            <a:off x="4754880" y="4178808"/>
            <a:ext cx="3675888" cy="0"/>
          </a:xfrm>
          <a:prstGeom prst="line">
            <a:avLst/>
          </a:prstGeom>
          <a:noFill/>
          <a:ln w="6350">
            <a:solidFill>
              <a:srgbClr val="E4BD96">
                <a:alpha val="18000"/>
              </a:srgbClr>
            </a:solidFill>
            <a:prstDash val="solid"/>
          </a:ln>
        </p:spPr>
      </p:sp>
      <p:sp>
        <p:nvSpPr>
          <p:cNvPr id="18" name="Text 15"/>
          <p:cNvSpPr/>
          <p:nvPr/>
        </p:nvSpPr>
        <p:spPr>
          <a:xfrm>
            <a:off x="4754880" y="4242816"/>
            <a:ext cx="3675888" cy="146304"/>
          </a:xfrm>
          <a:prstGeom prst="rect">
            <a:avLst/>
          </a:prstGeom>
          <a:noFill/>
          <a:ln/>
        </p:spPr>
        <p:txBody>
          <a:bodyPr wrap="square" lIns="0" tIns="0" rIns="0" bIns="0" rtlCol="0" anchor="ctr">
            <a:normAutofit/>
          </a:bodyPr>
          <a:lstStyle/>
          <a:p>
            <a:pPr indent="0" marL="0">
              <a:buNone/>
            </a:pPr>
            <a:r>
              <a:rPr lang="en-US" sz="750" spc="140" kern="0" dirty="0">
                <a:solidFill>
                  <a:srgbClr val="B6875B"/>
                </a:solidFill>
                <a:latin typeface="Spectral" pitchFamily="34" charset="0"/>
                <a:ea typeface="Spectral" pitchFamily="34" charset="-122"/>
                <a:cs typeface="Spectral" pitchFamily="34" charset="-120"/>
              </a:rPr>
              <a:t>CLOSED MONDAYS - AVAILABLE FOR PRIVATE EVENTS</a:t>
            </a:r>
            <a:endParaRPr lang="en-US" sz="750" dirty="0"/>
          </a:p>
        </p:txBody>
      </p:sp>
      <p:sp>
        <p:nvSpPr>
          <p:cNvPr id="19" name="Text 16"/>
          <p:cNvSpPr/>
          <p:nvPr/>
        </p:nvSpPr>
        <p:spPr>
          <a:xfrm>
            <a:off x="4754880" y="4535424"/>
            <a:ext cx="3675888" cy="320040"/>
          </a:xfrm>
          <a:prstGeom prst="rect">
            <a:avLst/>
          </a:prstGeom>
          <a:noFill/>
          <a:ln/>
        </p:spPr>
        <p:txBody>
          <a:bodyPr wrap="square" lIns="0" tIns="0" rIns="0" bIns="0" rtlCol="0" anchor="ctr">
            <a:normAutofit/>
          </a:bodyPr>
          <a:lstStyle/>
          <a:p>
            <a:pPr indent="0" marL="0">
              <a:buNone/>
            </a:pPr>
            <a:r>
              <a:rPr lang="en-US" sz="840" dirty="0">
                <a:solidFill>
                  <a:srgbClr val="E4BD96"/>
                </a:solidFill>
                <a:latin typeface="Spectral" pitchFamily="34" charset="0"/>
                <a:ea typeface="Spectral" pitchFamily="34" charset="-122"/>
                <a:cs typeface="Spectral" pitchFamily="34" charset="-120"/>
              </a:rPr>
              <a:t>A barrel-vaulted stone tunnel runs from the building toward the old Hudson shoreline. Dracula arrives by sea. The passage is already there.</a:t>
            </a:r>
            <a:endParaRPr lang="en-US" sz="8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71B1B">
              <a:alpha val="64000"/>
            </a:srgbClr>
          </a:solidFill>
          <a:ln w="12700">
            <a:solidFill>
              <a:srgbClr val="333333">
                <a:alpha val="0"/>
              </a:srgbClr>
            </a:solidFill>
            <a:prstDash val="solid"/>
          </a:ln>
        </p:spPr>
      </p:sp>
      <p:sp>
        <p:nvSpPr>
          <p:cNvPr id="4" name="Text 1"/>
          <p:cNvSpPr/>
          <p:nvPr/>
        </p:nvSpPr>
        <p:spPr>
          <a:xfrm>
            <a:off x="594360" y="384048"/>
            <a:ext cx="3200400" cy="201168"/>
          </a:xfrm>
          <a:prstGeom prst="rect">
            <a:avLst/>
          </a:prstGeom>
          <a:noFill/>
          <a:ln/>
        </p:spPr>
        <p:txBody>
          <a:bodyPr wrap="square" lIns="0" tIns="0" rIns="0" bIns="0" rtlCol="0" anchor="ctr">
            <a:normAutofit/>
          </a:bodyPr>
          <a:lstStyle/>
          <a:p>
            <a:pPr algn="l" indent="0" marL="0">
              <a:buNone/>
            </a:pPr>
            <a:r>
              <a:rPr lang="en-US" sz="850" spc="230" kern="0" dirty="0">
                <a:solidFill>
                  <a:srgbClr val="B6875B"/>
                </a:solidFill>
                <a:latin typeface="Spectral" pitchFamily="34" charset="0"/>
                <a:ea typeface="Spectral" pitchFamily="34" charset="-122"/>
                <a:cs typeface="Spectral" pitchFamily="34" charset="-120"/>
              </a:rPr>
              <a:t>FOR DISCUSSION</a:t>
            </a:r>
            <a:endParaRPr lang="en-US" sz="850" dirty="0"/>
          </a:p>
        </p:txBody>
      </p:sp>
      <p:sp>
        <p:nvSpPr>
          <p:cNvPr id="5" name="Text 2"/>
          <p:cNvSpPr/>
          <p:nvPr/>
        </p:nvSpPr>
        <p:spPr>
          <a:xfrm>
            <a:off x="594360" y="621792"/>
            <a:ext cx="3840480" cy="530352"/>
          </a:xfrm>
          <a:prstGeom prst="rect">
            <a:avLst/>
          </a:prstGeom>
          <a:noFill/>
          <a:ln/>
        </p:spPr>
        <p:txBody>
          <a:bodyPr wrap="square" lIns="0" tIns="0" rIns="0" bIns="0" rtlCol="0" anchor="ctr">
            <a:normAutofit/>
          </a:bodyPr>
          <a:lstStyle/>
          <a:p>
            <a:pPr algn="l" indent="0" marL="0">
              <a:buNone/>
            </a:pPr>
            <a:r>
              <a:rPr lang="en-US" sz="2900" dirty="0">
                <a:solidFill>
                  <a:srgbClr val="E4BD96"/>
                </a:solidFill>
                <a:latin typeface="Spectral" pitchFamily="34" charset="0"/>
                <a:ea typeface="Spectral" pitchFamily="34" charset="-122"/>
                <a:cs typeface="Spectral" pitchFamily="34" charset="-120"/>
              </a:rPr>
              <a:t>Open Items</a:t>
            </a:r>
            <a:endParaRPr lang="en-US" sz="2900" dirty="0"/>
          </a:p>
        </p:txBody>
      </p:sp>
      <p:sp>
        <p:nvSpPr>
          <p:cNvPr id="6" name="Shape 3"/>
          <p:cNvSpPr/>
          <p:nvPr/>
        </p:nvSpPr>
        <p:spPr>
          <a:xfrm>
            <a:off x="594360" y="1298448"/>
            <a:ext cx="7955280" cy="0"/>
          </a:xfrm>
          <a:prstGeom prst="line">
            <a:avLst/>
          </a:prstGeom>
          <a:noFill/>
          <a:ln w="6350">
            <a:solidFill>
              <a:srgbClr val="E4BD96">
                <a:alpha val="18000"/>
              </a:srgbClr>
            </a:solidFill>
            <a:prstDash val="solid"/>
          </a:ln>
        </p:spPr>
      </p:sp>
      <p:sp>
        <p:nvSpPr>
          <p:cNvPr id="7" name="Text 4"/>
          <p:cNvSpPr/>
          <p:nvPr/>
        </p:nvSpPr>
        <p:spPr>
          <a:xfrm>
            <a:off x="594360" y="1435608"/>
            <a:ext cx="347472" cy="182880"/>
          </a:xfrm>
          <a:prstGeom prst="rect">
            <a:avLst/>
          </a:prstGeom>
          <a:noFill/>
          <a:ln/>
        </p:spPr>
        <p:txBody>
          <a:bodyPr wrap="square" lIns="0" tIns="0" rIns="0" bIns="0" rtlCol="0" anchor="ctr"/>
          <a:lstStyle/>
          <a:p>
            <a:pPr indent="0" marL="0">
              <a:buNone/>
            </a:pPr>
            <a:r>
              <a:rPr lang="en-US" sz="800" dirty="0">
                <a:solidFill>
                  <a:srgbClr val="B6875B"/>
                </a:solidFill>
                <a:latin typeface="Spectral" pitchFamily="34" charset="0"/>
                <a:ea typeface="Spectral" pitchFamily="34" charset="-122"/>
                <a:cs typeface="Spectral" pitchFamily="34" charset="-120"/>
              </a:rPr>
              <a:t>01</a:t>
            </a:r>
            <a:endParaRPr lang="en-US" sz="800" dirty="0"/>
          </a:p>
        </p:txBody>
      </p:sp>
      <p:sp>
        <p:nvSpPr>
          <p:cNvPr id="8" name="Text 5"/>
          <p:cNvSpPr/>
          <p:nvPr/>
        </p:nvSpPr>
        <p:spPr>
          <a:xfrm>
            <a:off x="1078992" y="1389888"/>
            <a:ext cx="6903720" cy="384048"/>
          </a:xfrm>
          <a:prstGeom prst="rect">
            <a:avLst/>
          </a:prstGeom>
          <a:noFill/>
          <a:ln/>
        </p:spPr>
        <p:txBody>
          <a:bodyPr wrap="square" lIns="0" tIns="0" rIns="0" bIns="0" rtlCol="0" anchor="ctr">
            <a:normAutofit/>
          </a:bodyPr>
          <a:lstStyle/>
          <a:p>
            <a:pPr indent="0" marL="0">
              <a:buNone/>
            </a:pPr>
            <a:r>
              <a:rPr lang="en-US" sz="1050" dirty="0">
                <a:solidFill>
                  <a:srgbClr val="E4BD96"/>
                </a:solidFill>
                <a:latin typeface="Spectral" pitchFamily="34" charset="0"/>
                <a:ea typeface="Spectral" pitchFamily="34" charset="-122"/>
                <a:cs typeface="Spectral" pitchFamily="34" charset="-120"/>
              </a:rPr>
              <a:t>Audio integration - when and where clips play without disrupting the dining experience. Audio is mandatory to some extent; placement needs sign-off.</a:t>
            </a:r>
            <a:endParaRPr lang="en-US" sz="1050" dirty="0"/>
          </a:p>
        </p:txBody>
      </p:sp>
      <p:sp>
        <p:nvSpPr>
          <p:cNvPr id="9" name="Text 6"/>
          <p:cNvSpPr/>
          <p:nvPr/>
        </p:nvSpPr>
        <p:spPr>
          <a:xfrm>
            <a:off x="8028432" y="1453896"/>
            <a:ext cx="502920" cy="128016"/>
          </a:xfrm>
          <a:prstGeom prst="rect">
            <a:avLst/>
          </a:prstGeom>
          <a:noFill/>
          <a:ln/>
        </p:spPr>
        <p:txBody>
          <a:bodyPr wrap="square" lIns="0" tIns="0" rIns="0" bIns="0" rtlCol="0" anchor="ctr"/>
          <a:lstStyle/>
          <a:p>
            <a:pPr algn="r" indent="0" marL="0">
              <a:buNone/>
            </a:pPr>
            <a:r>
              <a:rPr lang="en-US" sz="650" dirty="0">
                <a:solidFill>
                  <a:srgbClr val="B6875B"/>
                </a:solidFill>
                <a:latin typeface="Spectral" pitchFamily="34" charset="0"/>
                <a:ea typeface="Spectral" pitchFamily="34" charset="-122"/>
                <a:cs typeface="Spectral" pitchFamily="34" charset="-120"/>
              </a:rPr>
              <a:t>OWNER</a:t>
            </a:r>
            <a:endParaRPr lang="en-US" sz="650" dirty="0"/>
          </a:p>
        </p:txBody>
      </p:sp>
      <p:sp>
        <p:nvSpPr>
          <p:cNvPr id="10" name="Shape 7"/>
          <p:cNvSpPr/>
          <p:nvPr/>
        </p:nvSpPr>
        <p:spPr>
          <a:xfrm>
            <a:off x="594360" y="1892808"/>
            <a:ext cx="7955280" cy="0"/>
          </a:xfrm>
          <a:prstGeom prst="line">
            <a:avLst/>
          </a:prstGeom>
          <a:noFill/>
          <a:ln w="6350">
            <a:solidFill>
              <a:srgbClr val="E4BD96">
                <a:alpha val="18000"/>
              </a:srgbClr>
            </a:solidFill>
            <a:prstDash val="solid"/>
          </a:ln>
        </p:spPr>
      </p:sp>
      <p:sp>
        <p:nvSpPr>
          <p:cNvPr id="11" name="Text 8"/>
          <p:cNvSpPr/>
          <p:nvPr/>
        </p:nvSpPr>
        <p:spPr>
          <a:xfrm>
            <a:off x="594360" y="2029968"/>
            <a:ext cx="347472" cy="182880"/>
          </a:xfrm>
          <a:prstGeom prst="rect">
            <a:avLst/>
          </a:prstGeom>
          <a:noFill/>
          <a:ln/>
        </p:spPr>
        <p:txBody>
          <a:bodyPr wrap="square" lIns="0" tIns="0" rIns="0" bIns="0" rtlCol="0" anchor="ctr"/>
          <a:lstStyle/>
          <a:p>
            <a:pPr indent="0" marL="0">
              <a:buNone/>
            </a:pPr>
            <a:r>
              <a:rPr lang="en-US" sz="800" dirty="0">
                <a:solidFill>
                  <a:srgbClr val="B6875B"/>
                </a:solidFill>
                <a:latin typeface="Spectral" pitchFamily="34" charset="0"/>
                <a:ea typeface="Spectral" pitchFamily="34" charset="-122"/>
                <a:cs typeface="Spectral" pitchFamily="34" charset="-120"/>
              </a:rPr>
              <a:t>02</a:t>
            </a:r>
            <a:endParaRPr lang="en-US" sz="800" dirty="0"/>
          </a:p>
        </p:txBody>
      </p:sp>
      <p:sp>
        <p:nvSpPr>
          <p:cNvPr id="12" name="Text 9"/>
          <p:cNvSpPr/>
          <p:nvPr/>
        </p:nvSpPr>
        <p:spPr>
          <a:xfrm>
            <a:off x="1078992" y="1984248"/>
            <a:ext cx="6903720" cy="384048"/>
          </a:xfrm>
          <a:prstGeom prst="rect">
            <a:avLst/>
          </a:prstGeom>
          <a:noFill/>
          <a:ln/>
        </p:spPr>
        <p:txBody>
          <a:bodyPr wrap="square" lIns="0" tIns="0" rIns="0" bIns="0" rtlCol="0" anchor="ctr">
            <a:normAutofit/>
          </a:bodyPr>
          <a:lstStyle/>
          <a:p>
            <a:pPr indent="0" marL="0">
              <a:buNone/>
            </a:pPr>
            <a:r>
              <a:rPr lang="en-US" sz="1050" dirty="0">
                <a:solidFill>
                  <a:srgbClr val="E4BD96"/>
                </a:solidFill>
                <a:latin typeface="Spectral" pitchFamily="34" charset="0"/>
                <a:ea typeface="Spectral" pitchFamily="34" charset="-122"/>
                <a:cs typeface="Spectral" pitchFamily="34" charset="-120"/>
              </a:rPr>
              <a:t>Leave-behind concept - options under consideration include a chocolate heart with cherry centre, a candle, or an eternal rose. Whichever is selected must carry the QR component.</a:t>
            </a:r>
            <a:endParaRPr lang="en-US" sz="1050" dirty="0"/>
          </a:p>
        </p:txBody>
      </p:sp>
      <p:sp>
        <p:nvSpPr>
          <p:cNvPr id="13" name="Text 10"/>
          <p:cNvSpPr/>
          <p:nvPr/>
        </p:nvSpPr>
        <p:spPr>
          <a:xfrm>
            <a:off x="8028432" y="2048256"/>
            <a:ext cx="502920" cy="128016"/>
          </a:xfrm>
          <a:prstGeom prst="rect">
            <a:avLst/>
          </a:prstGeom>
          <a:noFill/>
          <a:ln/>
        </p:spPr>
        <p:txBody>
          <a:bodyPr wrap="square" lIns="0" tIns="0" rIns="0" bIns="0" rtlCol="0" anchor="ctr"/>
          <a:lstStyle/>
          <a:p>
            <a:pPr algn="r" indent="0" marL="0">
              <a:buNone/>
            </a:pPr>
            <a:r>
              <a:rPr lang="en-US" sz="650" dirty="0">
                <a:solidFill>
                  <a:srgbClr val="B6875B"/>
                </a:solidFill>
                <a:latin typeface="Spectral" pitchFamily="34" charset="0"/>
                <a:ea typeface="Spectral" pitchFamily="34" charset="-122"/>
                <a:cs typeface="Spectral" pitchFamily="34" charset="-120"/>
              </a:rPr>
              <a:t>OWNER</a:t>
            </a:r>
            <a:endParaRPr lang="en-US" sz="650" dirty="0"/>
          </a:p>
        </p:txBody>
      </p:sp>
      <p:sp>
        <p:nvSpPr>
          <p:cNvPr id="14" name="Shape 11"/>
          <p:cNvSpPr/>
          <p:nvPr/>
        </p:nvSpPr>
        <p:spPr>
          <a:xfrm>
            <a:off x="594360" y="2487168"/>
            <a:ext cx="7955280" cy="0"/>
          </a:xfrm>
          <a:prstGeom prst="line">
            <a:avLst/>
          </a:prstGeom>
          <a:noFill/>
          <a:ln w="6350">
            <a:solidFill>
              <a:srgbClr val="E4BD96">
                <a:alpha val="18000"/>
              </a:srgbClr>
            </a:solidFill>
            <a:prstDash val="solid"/>
          </a:ln>
        </p:spPr>
      </p:sp>
      <p:sp>
        <p:nvSpPr>
          <p:cNvPr id="15" name="Text 12"/>
          <p:cNvSpPr/>
          <p:nvPr/>
        </p:nvSpPr>
        <p:spPr>
          <a:xfrm>
            <a:off x="594360" y="2624328"/>
            <a:ext cx="347472" cy="182880"/>
          </a:xfrm>
          <a:prstGeom prst="rect">
            <a:avLst/>
          </a:prstGeom>
          <a:noFill/>
          <a:ln/>
        </p:spPr>
        <p:txBody>
          <a:bodyPr wrap="square" lIns="0" tIns="0" rIns="0" bIns="0" rtlCol="0" anchor="ctr"/>
          <a:lstStyle/>
          <a:p>
            <a:pPr indent="0" marL="0">
              <a:buNone/>
            </a:pPr>
            <a:r>
              <a:rPr lang="en-US" sz="800" dirty="0">
                <a:solidFill>
                  <a:srgbClr val="B6875B"/>
                </a:solidFill>
                <a:latin typeface="Spectral" pitchFamily="34" charset="0"/>
                <a:ea typeface="Spectral" pitchFamily="34" charset="-122"/>
                <a:cs typeface="Spectral" pitchFamily="34" charset="-120"/>
              </a:rPr>
              <a:t>03</a:t>
            </a:r>
            <a:endParaRPr lang="en-US" sz="800" dirty="0"/>
          </a:p>
        </p:txBody>
      </p:sp>
      <p:sp>
        <p:nvSpPr>
          <p:cNvPr id="16" name="Text 13"/>
          <p:cNvSpPr/>
          <p:nvPr/>
        </p:nvSpPr>
        <p:spPr>
          <a:xfrm>
            <a:off x="1078992" y="2578608"/>
            <a:ext cx="6903720" cy="384048"/>
          </a:xfrm>
          <a:prstGeom prst="rect">
            <a:avLst/>
          </a:prstGeom>
          <a:noFill/>
          <a:ln/>
        </p:spPr>
        <p:txBody>
          <a:bodyPr wrap="square" lIns="0" tIns="0" rIns="0" bIns="0" rtlCol="0" anchor="ctr">
            <a:normAutofit/>
          </a:bodyPr>
          <a:lstStyle/>
          <a:p>
            <a:pPr indent="0" marL="0">
              <a:buNone/>
            </a:pPr>
            <a:r>
              <a:rPr lang="en-US" sz="1050" dirty="0">
                <a:solidFill>
                  <a:srgbClr val="E4BD96"/>
                </a:solidFill>
                <a:latin typeface="Spectral" pitchFamily="34" charset="0"/>
                <a:ea typeface="Spectral" pitchFamily="34" charset="-122"/>
                <a:cs typeface="Spectral" pitchFamily="34" charset="-120"/>
              </a:rPr>
              <a:t>Guest flow and throughput - the aura reading and portrait booth are one-at-a-time formats. At 200 guests these require timed waves or staggered arrivals. Needs modelling.</a:t>
            </a:r>
            <a:endParaRPr lang="en-US" sz="1050" dirty="0"/>
          </a:p>
        </p:txBody>
      </p:sp>
      <p:sp>
        <p:nvSpPr>
          <p:cNvPr id="17" name="Text 14"/>
          <p:cNvSpPr/>
          <p:nvPr/>
        </p:nvSpPr>
        <p:spPr>
          <a:xfrm>
            <a:off x="8028432" y="2642616"/>
            <a:ext cx="502920" cy="128016"/>
          </a:xfrm>
          <a:prstGeom prst="rect">
            <a:avLst/>
          </a:prstGeom>
          <a:noFill/>
          <a:ln/>
        </p:spPr>
        <p:txBody>
          <a:bodyPr wrap="square" lIns="0" tIns="0" rIns="0" bIns="0" rtlCol="0" anchor="ctr"/>
          <a:lstStyle/>
          <a:p>
            <a:pPr algn="r" indent="0" marL="0">
              <a:buNone/>
            </a:pPr>
            <a:r>
              <a:rPr lang="en-US" sz="650" dirty="0">
                <a:solidFill>
                  <a:srgbClr val="B6875B"/>
                </a:solidFill>
                <a:latin typeface="Spectral" pitchFamily="34" charset="0"/>
                <a:ea typeface="Spectral" pitchFamily="34" charset="-122"/>
                <a:cs typeface="Spectral" pitchFamily="34" charset="-120"/>
              </a:rPr>
              <a:t>OWNER</a:t>
            </a:r>
            <a:endParaRPr lang="en-US" sz="650" dirty="0"/>
          </a:p>
        </p:txBody>
      </p:sp>
      <p:sp>
        <p:nvSpPr>
          <p:cNvPr id="18" name="Shape 15"/>
          <p:cNvSpPr/>
          <p:nvPr/>
        </p:nvSpPr>
        <p:spPr>
          <a:xfrm>
            <a:off x="594360" y="3081528"/>
            <a:ext cx="7955280" cy="0"/>
          </a:xfrm>
          <a:prstGeom prst="line">
            <a:avLst/>
          </a:prstGeom>
          <a:noFill/>
          <a:ln w="6350">
            <a:solidFill>
              <a:srgbClr val="E4BD96">
                <a:alpha val="18000"/>
              </a:srgbClr>
            </a:solidFill>
            <a:prstDash val="solid"/>
          </a:ln>
        </p:spPr>
      </p:sp>
      <p:sp>
        <p:nvSpPr>
          <p:cNvPr id="19" name="Text 16"/>
          <p:cNvSpPr/>
          <p:nvPr/>
        </p:nvSpPr>
        <p:spPr>
          <a:xfrm>
            <a:off x="594360" y="3218688"/>
            <a:ext cx="347472" cy="182880"/>
          </a:xfrm>
          <a:prstGeom prst="rect">
            <a:avLst/>
          </a:prstGeom>
          <a:noFill/>
          <a:ln/>
        </p:spPr>
        <p:txBody>
          <a:bodyPr wrap="square" lIns="0" tIns="0" rIns="0" bIns="0" rtlCol="0" anchor="ctr"/>
          <a:lstStyle/>
          <a:p>
            <a:pPr indent="0" marL="0">
              <a:buNone/>
            </a:pPr>
            <a:r>
              <a:rPr lang="en-US" sz="800" dirty="0">
                <a:solidFill>
                  <a:srgbClr val="B6875B"/>
                </a:solidFill>
                <a:latin typeface="Spectral" pitchFamily="34" charset="0"/>
                <a:ea typeface="Spectral" pitchFamily="34" charset="-122"/>
                <a:cs typeface="Spectral" pitchFamily="34" charset="-120"/>
              </a:rPr>
              <a:t>04</a:t>
            </a:r>
            <a:endParaRPr lang="en-US" sz="800" dirty="0"/>
          </a:p>
        </p:txBody>
      </p:sp>
      <p:sp>
        <p:nvSpPr>
          <p:cNvPr id="20" name="Text 17"/>
          <p:cNvSpPr/>
          <p:nvPr/>
        </p:nvSpPr>
        <p:spPr>
          <a:xfrm>
            <a:off x="1078992" y="3172968"/>
            <a:ext cx="6903720" cy="384048"/>
          </a:xfrm>
          <a:prstGeom prst="rect">
            <a:avLst/>
          </a:prstGeom>
          <a:noFill/>
          <a:ln/>
        </p:spPr>
        <p:txBody>
          <a:bodyPr wrap="square" lIns="0" tIns="0" rIns="0" bIns="0" rtlCol="0" anchor="ctr">
            <a:normAutofit/>
          </a:bodyPr>
          <a:lstStyle/>
          <a:p>
            <a:pPr indent="0" marL="0">
              <a:buNone/>
            </a:pPr>
            <a:r>
              <a:rPr lang="en-US" sz="1050" dirty="0">
                <a:solidFill>
                  <a:srgbClr val="E4BD96"/>
                </a:solidFill>
                <a:latin typeface="Spectral" pitchFamily="34" charset="0"/>
                <a:ea typeface="Spectral" pitchFamily="34" charset="-122"/>
                <a:cs typeface="Spectral" pitchFamily="34" charset="-120"/>
              </a:rPr>
              <a:t>Talent involvement - none currently scoped. Confirm whether Bailey or Purnell participation is in play.</a:t>
            </a:r>
            <a:endParaRPr lang="en-US" sz="1050" dirty="0"/>
          </a:p>
        </p:txBody>
      </p:sp>
      <p:sp>
        <p:nvSpPr>
          <p:cNvPr id="21" name="Text 18"/>
          <p:cNvSpPr/>
          <p:nvPr/>
        </p:nvSpPr>
        <p:spPr>
          <a:xfrm>
            <a:off x="8028432" y="3236976"/>
            <a:ext cx="502920" cy="128016"/>
          </a:xfrm>
          <a:prstGeom prst="rect">
            <a:avLst/>
          </a:prstGeom>
          <a:noFill/>
          <a:ln/>
        </p:spPr>
        <p:txBody>
          <a:bodyPr wrap="square" lIns="0" tIns="0" rIns="0" bIns="0" rtlCol="0" anchor="ctr"/>
          <a:lstStyle/>
          <a:p>
            <a:pPr algn="r" indent="0" marL="0">
              <a:buNone/>
            </a:pPr>
            <a:r>
              <a:rPr lang="en-US" sz="650" dirty="0">
                <a:solidFill>
                  <a:srgbClr val="B6875B"/>
                </a:solidFill>
                <a:latin typeface="Spectral" pitchFamily="34" charset="0"/>
                <a:ea typeface="Spectral" pitchFamily="34" charset="-122"/>
                <a:cs typeface="Spectral" pitchFamily="34" charset="-120"/>
              </a:rPr>
              <a:t>OWNER</a:t>
            </a:r>
            <a:endParaRPr lang="en-US" sz="650" dirty="0"/>
          </a:p>
        </p:txBody>
      </p:sp>
      <p:sp>
        <p:nvSpPr>
          <p:cNvPr id="22" name="Shape 19"/>
          <p:cNvSpPr/>
          <p:nvPr/>
        </p:nvSpPr>
        <p:spPr>
          <a:xfrm>
            <a:off x="594360" y="3675888"/>
            <a:ext cx="7955280" cy="0"/>
          </a:xfrm>
          <a:prstGeom prst="line">
            <a:avLst/>
          </a:prstGeom>
          <a:noFill/>
          <a:ln w="6350">
            <a:solidFill>
              <a:srgbClr val="E4BD96">
                <a:alpha val="18000"/>
              </a:srgbClr>
            </a:solidFill>
            <a:prstDash val="solid"/>
          </a:ln>
        </p:spPr>
      </p:sp>
      <p:sp>
        <p:nvSpPr>
          <p:cNvPr id="23" name="Text 20"/>
          <p:cNvSpPr/>
          <p:nvPr/>
        </p:nvSpPr>
        <p:spPr>
          <a:xfrm>
            <a:off x="594360" y="3813048"/>
            <a:ext cx="347472" cy="182880"/>
          </a:xfrm>
          <a:prstGeom prst="rect">
            <a:avLst/>
          </a:prstGeom>
          <a:noFill/>
          <a:ln/>
        </p:spPr>
        <p:txBody>
          <a:bodyPr wrap="square" lIns="0" tIns="0" rIns="0" bIns="0" rtlCol="0" anchor="ctr"/>
          <a:lstStyle/>
          <a:p>
            <a:pPr indent="0" marL="0">
              <a:buNone/>
            </a:pPr>
            <a:r>
              <a:rPr lang="en-US" sz="800" dirty="0">
                <a:solidFill>
                  <a:srgbClr val="B6875B"/>
                </a:solidFill>
                <a:latin typeface="Spectral" pitchFamily="34" charset="0"/>
                <a:ea typeface="Spectral" pitchFamily="34" charset="-122"/>
                <a:cs typeface="Spectral" pitchFamily="34" charset="-120"/>
              </a:rPr>
              <a:t>05</a:t>
            </a:r>
            <a:endParaRPr lang="en-US" sz="800" dirty="0"/>
          </a:p>
        </p:txBody>
      </p:sp>
      <p:sp>
        <p:nvSpPr>
          <p:cNvPr id="24" name="Text 21"/>
          <p:cNvSpPr/>
          <p:nvPr/>
        </p:nvSpPr>
        <p:spPr>
          <a:xfrm>
            <a:off x="1078992" y="3767328"/>
            <a:ext cx="6903720" cy="384048"/>
          </a:xfrm>
          <a:prstGeom prst="rect">
            <a:avLst/>
          </a:prstGeom>
          <a:noFill/>
          <a:ln/>
        </p:spPr>
        <p:txBody>
          <a:bodyPr wrap="square" lIns="0" tIns="0" rIns="0" bIns="0" rtlCol="0" anchor="ctr">
            <a:normAutofit/>
          </a:bodyPr>
          <a:lstStyle/>
          <a:p>
            <a:pPr indent="0" marL="0">
              <a:buNone/>
            </a:pPr>
            <a:r>
              <a:rPr lang="en-US" sz="1050" dirty="0">
                <a:solidFill>
                  <a:srgbClr val="E4BD96"/>
                </a:solidFill>
                <a:latin typeface="Spectral" pitchFamily="34" charset="0"/>
                <a:ea typeface="Spectral" pitchFamily="34" charset="-122"/>
                <a:cs typeface="Spectral" pitchFamily="34" charset="-120"/>
              </a:rPr>
              <a:t>Date, guest count, and budget band - not yet set.</a:t>
            </a:r>
            <a:endParaRPr lang="en-US" sz="1050" dirty="0"/>
          </a:p>
        </p:txBody>
      </p:sp>
      <p:sp>
        <p:nvSpPr>
          <p:cNvPr id="25" name="Text 22"/>
          <p:cNvSpPr/>
          <p:nvPr/>
        </p:nvSpPr>
        <p:spPr>
          <a:xfrm>
            <a:off x="8028432" y="3831336"/>
            <a:ext cx="502920" cy="128016"/>
          </a:xfrm>
          <a:prstGeom prst="rect">
            <a:avLst/>
          </a:prstGeom>
          <a:noFill/>
          <a:ln/>
        </p:spPr>
        <p:txBody>
          <a:bodyPr wrap="square" lIns="0" tIns="0" rIns="0" bIns="0" rtlCol="0" anchor="ctr"/>
          <a:lstStyle/>
          <a:p>
            <a:pPr algn="r" indent="0" marL="0">
              <a:buNone/>
            </a:pPr>
            <a:r>
              <a:rPr lang="en-US" sz="650" dirty="0">
                <a:solidFill>
                  <a:srgbClr val="B6875B"/>
                </a:solidFill>
                <a:latin typeface="Spectral" pitchFamily="34" charset="0"/>
                <a:ea typeface="Spectral" pitchFamily="34" charset="-122"/>
                <a:cs typeface="Spectral" pitchFamily="34" charset="-120"/>
              </a:rPr>
              <a:t>OWNER</a:t>
            </a:r>
            <a:endParaRPr lang="en-US" sz="650" dirty="0"/>
          </a:p>
        </p:txBody>
      </p:sp>
      <p:sp>
        <p:nvSpPr>
          <p:cNvPr id="26" name="Shape 23"/>
          <p:cNvSpPr/>
          <p:nvPr/>
        </p:nvSpPr>
        <p:spPr>
          <a:xfrm>
            <a:off x="594360" y="4270248"/>
            <a:ext cx="7955280" cy="0"/>
          </a:xfrm>
          <a:prstGeom prst="line">
            <a:avLst/>
          </a:prstGeom>
          <a:noFill/>
          <a:ln w="6350">
            <a:solidFill>
              <a:srgbClr val="E4BD96">
                <a:alpha val="18000"/>
              </a:srgbClr>
            </a:solidFill>
            <a:prstDash val="solid"/>
          </a:ln>
        </p:spPr>
      </p:sp>
      <p:sp>
        <p:nvSpPr>
          <p:cNvPr id="27" name="Text 24"/>
          <p:cNvSpPr/>
          <p:nvPr/>
        </p:nvSpPr>
        <p:spPr>
          <a:xfrm>
            <a:off x="594360" y="4407408"/>
            <a:ext cx="347472" cy="182880"/>
          </a:xfrm>
          <a:prstGeom prst="rect">
            <a:avLst/>
          </a:prstGeom>
          <a:noFill/>
          <a:ln/>
        </p:spPr>
        <p:txBody>
          <a:bodyPr wrap="square" lIns="0" tIns="0" rIns="0" bIns="0" rtlCol="0" anchor="ctr"/>
          <a:lstStyle/>
          <a:p>
            <a:pPr indent="0" marL="0">
              <a:buNone/>
            </a:pPr>
            <a:r>
              <a:rPr lang="en-US" sz="800" dirty="0">
                <a:solidFill>
                  <a:srgbClr val="B6875B"/>
                </a:solidFill>
                <a:latin typeface="Spectral" pitchFamily="34" charset="0"/>
                <a:ea typeface="Spectral" pitchFamily="34" charset="-122"/>
                <a:cs typeface="Spectral" pitchFamily="34" charset="-120"/>
              </a:rPr>
              <a:t>06</a:t>
            </a:r>
            <a:endParaRPr lang="en-US" sz="800" dirty="0"/>
          </a:p>
        </p:txBody>
      </p:sp>
      <p:sp>
        <p:nvSpPr>
          <p:cNvPr id="28" name="Text 25"/>
          <p:cNvSpPr/>
          <p:nvPr/>
        </p:nvSpPr>
        <p:spPr>
          <a:xfrm>
            <a:off x="1078992" y="4361688"/>
            <a:ext cx="6903720" cy="384048"/>
          </a:xfrm>
          <a:prstGeom prst="rect">
            <a:avLst/>
          </a:prstGeom>
          <a:noFill/>
          <a:ln/>
        </p:spPr>
        <p:txBody>
          <a:bodyPr wrap="square" lIns="0" tIns="0" rIns="0" bIns="0" rtlCol="0" anchor="ctr">
            <a:normAutofit/>
          </a:bodyPr>
          <a:lstStyle/>
          <a:p>
            <a:pPr indent="0" marL="0">
              <a:buNone/>
            </a:pPr>
            <a:r>
              <a:rPr lang="en-US" sz="1050" dirty="0">
                <a:solidFill>
                  <a:srgbClr val="E4BD96"/>
                </a:solidFill>
                <a:latin typeface="Spectral" pitchFamily="34" charset="0"/>
                <a:ea typeface="Spectral" pitchFamily="34" charset="-122"/>
                <a:cs typeface="Spectral" pitchFamily="34" charset="-120"/>
              </a:rPr>
              <a:t>Key art motion treatment - confirm brand-team approval for scroll-based parallax on the delivered key art composition.</a:t>
            </a:r>
            <a:endParaRPr lang="en-US" sz="1050" dirty="0"/>
          </a:p>
        </p:txBody>
      </p:sp>
      <p:sp>
        <p:nvSpPr>
          <p:cNvPr id="29" name="Text 26"/>
          <p:cNvSpPr/>
          <p:nvPr/>
        </p:nvSpPr>
        <p:spPr>
          <a:xfrm>
            <a:off x="8028432" y="4425696"/>
            <a:ext cx="502920" cy="128016"/>
          </a:xfrm>
          <a:prstGeom prst="rect">
            <a:avLst/>
          </a:prstGeom>
          <a:noFill/>
          <a:ln/>
        </p:spPr>
        <p:txBody>
          <a:bodyPr wrap="square" lIns="0" tIns="0" rIns="0" bIns="0" rtlCol="0" anchor="ctr"/>
          <a:lstStyle/>
          <a:p>
            <a:pPr algn="r" indent="0" marL="0">
              <a:buNone/>
            </a:pPr>
            <a:r>
              <a:rPr lang="en-US" sz="650" dirty="0">
                <a:solidFill>
                  <a:srgbClr val="B6875B"/>
                </a:solidFill>
                <a:latin typeface="Spectral" pitchFamily="34" charset="0"/>
                <a:ea typeface="Spectral" pitchFamily="34" charset="-122"/>
                <a:cs typeface="Spectral" pitchFamily="34" charset="-120"/>
              </a:rPr>
              <a:t>OWNER</a:t>
            </a:r>
            <a:endParaRPr lang="en-US" sz="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Audible Dracula key art featuring Jonathan Bailey and Ella Purnell">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3246120"/>
            <a:ext cx="9144000" cy="1897380"/>
          </a:xfrm>
          <a:prstGeom prst="rect">
            <a:avLst/>
          </a:prstGeom>
          <a:solidFill>
            <a:srgbClr val="171B1B">
              <a:alpha val="58000"/>
            </a:srgbClr>
          </a:solidFill>
          <a:ln w="12700">
            <a:solidFill>
              <a:srgbClr val="333333">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ectr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ectr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NowThis x Audible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Hunt</dc:title>
  <dc:subject>The Hunt campaign kickoff</dc:subject>
  <dc:creator>NowThis x Audible</dc:creator>
  <cp:lastModifiedBy>NowThis x Audible</cp:lastModifiedBy>
  <cp:revision>1</cp:revision>
  <dcterms:created xsi:type="dcterms:W3CDTF">2026-09-08T12:35:37Z</dcterms:created>
  <dcterms:modified xsi:type="dcterms:W3CDTF">2026-09-08T12:35:37Z</dcterms:modified>
</cp:coreProperties>
</file>